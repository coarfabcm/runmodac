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65" r:id="rId5"/>
    <p:sldId id="263" r:id="rId6"/>
    <p:sldId id="264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1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F85C-E9BE-A948-26FD-1A5EF87DA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01615-BDB5-B761-6C02-60DF31207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006E2-C520-0177-D0B6-FDD9321A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F04B1-CE9D-AC91-E289-FCDA780D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C4BB-9E49-5BDA-4089-C6881FAA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4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1863-5823-D05C-96E2-99EF282D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D117-32DB-09C8-B1D7-282DAC24C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1A0FE-6DEC-BADD-4EDA-B21986E4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4CA57-CE62-4A50-E381-BA41E001A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2C0B6-69D8-C8C8-EBF2-302088CF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8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64B1-2095-2E54-40E9-31BAA70C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C2744-46A6-DCFD-2F23-64886779B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22632-A493-1BFD-C9A1-99BBB5C2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74420-BC1A-8930-6B68-6B19C8B7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0A66-807E-B15D-4E6B-239E358D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2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B6E9-243A-3930-F90D-B54F85F6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72346-5B8A-C25C-84ED-615217246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A838A-C288-30A5-2938-F6D794EB1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29B95-D8C7-D22C-1593-AB7F7CCD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84744-4112-1C99-A5AE-B55947A1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EC995-5A05-F561-29C9-BD98B82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2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9E55-33EC-E4C5-E120-F73FB2B8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73464-C310-535E-1643-A49D1F27C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DDE2C-5E20-55CD-08F7-0ED1B5293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22060-DFEB-906C-98E4-3F37CAFF8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57492-E7A9-D326-E9A6-E5E38A0F6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4A56C-4756-405A-AB69-70D5C5E2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66717-2D46-BBF4-F95E-DB6DC076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41D0E-C87F-4627-066D-F59E7C50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9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0E0F-EA40-CC73-8873-BDA72908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A31E4-CBA8-DC2D-185C-B044D9F6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D6C37-958C-7CF9-F78D-6E23C5CA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91578-B350-D45A-84FA-F59B34FD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F3A92-6832-CC89-7D31-2A9A19A9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89BF9-C293-BF8F-4D8B-00BB55DA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F3912-A8A4-72C8-B0EA-5CB96783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2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7515-94E4-0014-1DE4-28F96733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73AE-D437-5F46-C297-928B73D82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029C1-6CCE-9251-71E6-5DF5CFCCA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0DF94-9529-5A86-D137-E5F6B437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80EE3-01F9-6B97-1BBD-B258530E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4479A-048D-2935-4774-EDB5437F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3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C4BE-2907-60F2-0BE7-9BAA96B9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359D4-E094-3819-7369-3B4D97865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35B20-933A-9804-4318-5732EEC2B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06698-351C-CCE0-278C-06A6A2FC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0F71F-E2AD-E655-2325-D9F90621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B9713-0F52-D1DA-203F-B87A277A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9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90C0-43BD-1472-FF34-F74BB166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14673-3E54-A05D-41EE-F3B85F46B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167B7-2444-3F12-2022-B183CFFE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9460F-CFE2-7A80-532E-E4A6B6DC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DB355-41B9-BBBF-FAEE-DB501052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2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20D9A-9453-F8B4-56D3-AAACFEBF2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344BA-06A9-408C-9B3C-1DB8CD847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D5526-5B29-5855-0574-5FC2C651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50BD6-C5BE-82EB-6ABC-4D633B37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30A3-5DC2-D324-06EE-D43DA90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79BB6-2A61-134D-951C-DDEFA02B5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07E63-0B8A-F47E-0FF4-52BF40E65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6FC05-7295-64A7-22AA-FCC49B3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12CF8-5571-2F43-B531-95039EEE283D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546C-E520-8242-CE99-CCC60AB65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11CDD-3AC5-DAAF-7FE7-1AC89865B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9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E54F-102E-825C-5BDB-C93C523DE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runMODAC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BCFEA-E060-92C3-6464-A70013F1E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3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6C65-586B-5F89-7660-E9951CD6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</a:t>
            </a:r>
            <a:r>
              <a:rPr lang="en-US" dirty="0" err="1"/>
              <a:t>ComplexHeatmap</a:t>
            </a:r>
            <a:r>
              <a:rPr lang="en-US" dirty="0"/>
              <a:t> using the following code: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if (!</a:t>
            </a:r>
            <a:r>
              <a:rPr lang="en-US" dirty="0" err="1">
                <a:highlight>
                  <a:srgbClr val="FFFF00"/>
                </a:highlight>
              </a:rPr>
              <a:t>requireNamespace</a:t>
            </a:r>
            <a:r>
              <a:rPr lang="en-US" dirty="0">
                <a:highlight>
                  <a:srgbClr val="FFFF00"/>
                </a:highlight>
              </a:rPr>
              <a:t>("</a:t>
            </a:r>
            <a:r>
              <a:rPr lang="en-US" dirty="0" err="1">
                <a:highlight>
                  <a:srgbClr val="FFFF00"/>
                </a:highlight>
              </a:rPr>
              <a:t>BiocManager</a:t>
            </a:r>
            <a:r>
              <a:rPr lang="en-US" dirty="0">
                <a:highlight>
                  <a:srgbClr val="FFFF00"/>
                </a:highlight>
              </a:rPr>
              <a:t>", quietly = TRUE)) </a:t>
            </a:r>
            <a:r>
              <a:rPr lang="en-US" dirty="0" err="1">
                <a:highlight>
                  <a:srgbClr val="FFFF00"/>
                </a:highlight>
              </a:rPr>
              <a:t>install.packages</a:t>
            </a:r>
            <a:r>
              <a:rPr lang="en-US" dirty="0">
                <a:highlight>
                  <a:srgbClr val="FFFF00"/>
                </a:highlight>
              </a:rPr>
              <a:t>("</a:t>
            </a:r>
            <a:r>
              <a:rPr lang="en-US" dirty="0" err="1">
                <a:highlight>
                  <a:srgbClr val="FFFF00"/>
                </a:highlight>
              </a:rPr>
              <a:t>BiocManager</a:t>
            </a:r>
            <a:r>
              <a:rPr lang="en-US" dirty="0">
                <a:highlight>
                  <a:srgbClr val="FFFF00"/>
                </a:highlight>
              </a:rPr>
              <a:t>")</a:t>
            </a:r>
          </a:p>
          <a:p>
            <a:pPr marL="457200" lvl="1" indent="0">
              <a:buNone/>
            </a:pPr>
            <a:r>
              <a:rPr lang="en-US" dirty="0" err="1">
                <a:highlight>
                  <a:srgbClr val="FFFF00"/>
                </a:highlight>
              </a:rPr>
              <a:t>BiocManager</a:t>
            </a:r>
            <a:r>
              <a:rPr lang="en-US" dirty="0">
                <a:highlight>
                  <a:srgbClr val="FFFF00"/>
                </a:highlight>
              </a:rPr>
              <a:t>::install(c("</a:t>
            </a:r>
            <a:r>
              <a:rPr lang="en-US" dirty="0" err="1">
                <a:highlight>
                  <a:srgbClr val="FFFF00"/>
                </a:highlight>
              </a:rPr>
              <a:t>ComplexHeatmap</a:t>
            </a:r>
            <a:r>
              <a:rPr lang="en-US" dirty="0">
                <a:highlight>
                  <a:srgbClr val="FFFF00"/>
                </a:highlight>
              </a:rPr>
              <a:t>”)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dirty="0" err="1"/>
              <a:t>runModac.Rproj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Source the “R/</a:t>
            </a:r>
            <a:r>
              <a:rPr lang="en-US" dirty="0" err="1"/>
              <a:t>runModac.R</a:t>
            </a:r>
            <a:r>
              <a:rPr lang="en-US" dirty="0"/>
              <a:t>” file and proceed with analysis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98327C-A5D0-FC32-FF96-831F06359282}"/>
              </a:ext>
            </a:extLst>
          </p:cNvPr>
          <p:cNvSpPr txBox="1">
            <a:spLocks/>
          </p:cNvSpPr>
          <p:nvPr/>
        </p:nvSpPr>
        <p:spPr>
          <a:xfrm>
            <a:off x="838200" y="5896"/>
            <a:ext cx="10515600" cy="96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Prep</a:t>
            </a:r>
          </a:p>
        </p:txBody>
      </p:sp>
    </p:spTree>
    <p:extLst>
      <p:ext uri="{BB962C8B-B14F-4D97-AF65-F5344CB8AC3E}">
        <p14:creationId xmlns:p14="http://schemas.microsoft.com/office/powerpoint/2010/main" val="280002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6C65-586B-5F89-7660-E9951CD6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runModac</a:t>
            </a:r>
            <a:r>
              <a:rPr lang="en-US" dirty="0"/>
              <a:t>(</a:t>
            </a:r>
            <a:r>
              <a:rPr lang="en-US" dirty="0" err="1"/>
              <a:t>inputFile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comparisonsFile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	type = “metabolomics”,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outdir</a:t>
            </a:r>
            <a:r>
              <a:rPr lang="en-US" dirty="0"/>
              <a:t> = “results”,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project_title</a:t>
            </a:r>
            <a:r>
              <a:rPr lang="en-US" dirty="0"/>
              <a:t> = "Project Report",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project_subtitle</a:t>
            </a:r>
            <a:r>
              <a:rPr lang="en-US" dirty="0"/>
              <a:t> = "Metabolomics Analysis",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samplesAreRows</a:t>
            </a:r>
            <a:r>
              <a:rPr lang="en-US" dirty="0"/>
              <a:t> = T,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sampleIDRow</a:t>
            </a:r>
            <a:r>
              <a:rPr lang="en-US" dirty="0"/>
              <a:t> = 2,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scriptPath</a:t>
            </a:r>
            <a:r>
              <a:rPr lang="en-US" dirty="0"/>
              <a:t> = "~/Box Sync/</a:t>
            </a:r>
            <a:r>
              <a:rPr lang="en-US" dirty="0" err="1"/>
              <a:t>runModac</a:t>
            </a:r>
            <a:r>
              <a:rPr lang="en-US" dirty="0"/>
              <a:t>/R/")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98327C-A5D0-FC32-FF96-831F06359282}"/>
              </a:ext>
            </a:extLst>
          </p:cNvPr>
          <p:cNvSpPr txBox="1">
            <a:spLocks/>
          </p:cNvSpPr>
          <p:nvPr/>
        </p:nvSpPr>
        <p:spPr>
          <a:xfrm>
            <a:off x="838200" y="5896"/>
            <a:ext cx="10515600" cy="96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Usage</a:t>
            </a:r>
          </a:p>
        </p:txBody>
      </p:sp>
    </p:spTree>
    <p:extLst>
      <p:ext uri="{BB962C8B-B14F-4D97-AF65-F5344CB8AC3E}">
        <p14:creationId xmlns:p14="http://schemas.microsoft.com/office/powerpoint/2010/main" val="186445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EA82-6506-DFFE-6495-21464880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Metabolomics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07DBF-B79C-7DA2-07B5-64166409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86932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Input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7E587-1DA1-696F-5BA7-46F4417F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563"/>
            <a:ext cx="7021286" cy="49448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7021286" y="2413334"/>
            <a:ext cx="5170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of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column contains sample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columns are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QC samples at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ISTD columns at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NAs or blank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ISTD normalization, only positive numbers</a:t>
            </a:r>
          </a:p>
        </p:txBody>
      </p:sp>
    </p:spTree>
    <p:extLst>
      <p:ext uri="{BB962C8B-B14F-4D97-AF65-F5344CB8AC3E}">
        <p14:creationId xmlns:p14="http://schemas.microsoft.com/office/powerpoint/2010/main" val="109555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– Settings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5564910" y="968829"/>
            <a:ext cx="66270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statistic_selector</a:t>
            </a:r>
            <a:r>
              <a:rPr lang="en-US" dirty="0"/>
              <a:t>: “</a:t>
            </a:r>
            <a:r>
              <a:rPr lang="en-US" dirty="0" err="1"/>
              <a:t>pval</a:t>
            </a:r>
            <a:r>
              <a:rPr lang="en-US" dirty="0"/>
              <a:t>” or “</a:t>
            </a:r>
            <a:r>
              <a:rPr lang="en-US" dirty="0" err="1"/>
              <a:t>fdr</a:t>
            </a:r>
            <a:r>
              <a:rPr lang="en-US" dirty="0"/>
              <a:t>”. Use p-value or FDR for generating filtered heatmaps and signature files?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statistic_cutoff</a:t>
            </a:r>
            <a:r>
              <a:rPr lang="en-US" dirty="0"/>
              <a:t>: p-value or FDR threshold for generating filtered heatmaps and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fc_type</a:t>
            </a:r>
            <a:r>
              <a:rPr lang="en-US" dirty="0"/>
              <a:t>: “linear” or “log2”. Calculate linear fold change or log2 fold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linear_fc_cutoff</a:t>
            </a:r>
            <a:r>
              <a:rPr lang="en-US" dirty="0"/>
              <a:t>: Fold change threshold for generating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QC_row</a:t>
            </a:r>
            <a:r>
              <a:rPr lang="en-US" dirty="0"/>
              <a:t>: row index for the first QC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cv_cutoff_internal_standard</a:t>
            </a:r>
            <a:r>
              <a:rPr lang="en-US" dirty="0"/>
              <a:t>: Coefficient of variation (CV) threshold for internal standard (ISTD). Only ISTDs with CV lower than this threshold will be considered for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normalization</a:t>
            </a:r>
            <a:r>
              <a:rPr lang="en-US" dirty="0"/>
              <a:t>: “</a:t>
            </a:r>
            <a:r>
              <a:rPr lang="en-US" dirty="0" err="1"/>
              <a:t>istd</a:t>
            </a:r>
            <a:r>
              <a:rPr lang="en-US" dirty="0"/>
              <a:t>”, “</a:t>
            </a:r>
            <a:r>
              <a:rPr lang="en-US" dirty="0" err="1"/>
              <a:t>iqr</a:t>
            </a:r>
            <a:r>
              <a:rPr lang="en-US" dirty="0"/>
              <a:t>”, or “none”. Type of normalization to be performed – internal standard, interquartile range, or none?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log2transform</a:t>
            </a:r>
            <a:r>
              <a:rPr lang="en-US" dirty="0"/>
              <a:t>: Apply log2 transformation?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tab</a:t>
            </a:r>
            <a:r>
              <a:rPr lang="en-US" dirty="0"/>
              <a:t>: For ISTD normalization, write down names of all the methods below this.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ISTD_column</a:t>
            </a:r>
            <a:r>
              <a:rPr lang="en-US" dirty="0"/>
              <a:t>: For ISTD normalization, write down index of the first (or only) internal standard methods below this for all the methods.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C27DD-0B27-32DB-E9AF-AF9B2B274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"/>
          <a:stretch/>
        </p:blipFill>
        <p:spPr>
          <a:xfrm>
            <a:off x="-1" y="968829"/>
            <a:ext cx="4517571" cy="5883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60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- Comparisons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0C858-F3A7-9AD6-85CD-FBFFDA31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53" y="974725"/>
            <a:ext cx="3000865" cy="5883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8B9C20-FB97-BA6A-E4A6-FD3F463E2F8C}"/>
              </a:ext>
            </a:extLst>
          </p:cNvPr>
          <p:cNvSpPr txBox="1"/>
          <p:nvPr/>
        </p:nvSpPr>
        <p:spPr>
          <a:xfrm>
            <a:off x="5889171" y="968829"/>
            <a:ext cx="5747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comparison_name</a:t>
            </a:r>
            <a:r>
              <a:rPr lang="en-US" dirty="0"/>
              <a:t>: A label for this comparison. Format must be “</a:t>
            </a:r>
            <a:r>
              <a:rPr lang="en-US" dirty="0" err="1"/>
              <a:t>testgroup_over_controlgroup</a:t>
            </a:r>
            <a:r>
              <a:rPr lang="en-US" dirty="0"/>
              <a:t>” for t-test and “group1_group2_..._</a:t>
            </a:r>
            <a:r>
              <a:rPr lang="en-US" dirty="0" err="1"/>
              <a:t>groupn</a:t>
            </a:r>
            <a:r>
              <a:rPr lang="en-US" dirty="0"/>
              <a:t>” for ANOVA.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: ”t-test” or “</a:t>
            </a:r>
            <a:r>
              <a:rPr lang="en-US" dirty="0" err="1"/>
              <a:t>anova</a:t>
            </a:r>
            <a:r>
              <a:rPr lang="en-US" dirty="0"/>
              <a:t>”. Which statistical test to perform?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group_order_ctrl_test</a:t>
            </a:r>
            <a:r>
              <a:rPr lang="en-US" dirty="0"/>
              <a:t>: order in which to display the comparison groups in boxplots and heatmaps.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group that each sample belongs to. This can have all the groups or only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</a:t>
            </a:r>
            <a:r>
              <a:rPr lang="en-US" dirty="0"/>
              <a:t>: sample ID for all the samples or only samples belonging to the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Repeat this process creating a new sheet for all comparisons.</a:t>
            </a:r>
          </a:p>
        </p:txBody>
      </p:sp>
    </p:spTree>
    <p:extLst>
      <p:ext uri="{BB962C8B-B14F-4D97-AF65-F5344CB8AC3E}">
        <p14:creationId xmlns:p14="http://schemas.microsoft.com/office/powerpoint/2010/main" val="232917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E01DC-4B9F-6D37-F466-5AA4E5A41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042247"/>
            <a:ext cx="7010400" cy="15339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F7F6F9-9252-948A-C4A1-795026BE8DAD}"/>
              </a:ext>
            </a:extLst>
          </p:cNvPr>
          <p:cNvSpPr txBox="1"/>
          <p:nvPr/>
        </p:nvSpPr>
        <p:spPr>
          <a:xfrm>
            <a:off x="7010401" y="2236704"/>
            <a:ext cx="53231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inputFile</a:t>
            </a:r>
            <a:r>
              <a:rPr lang="en-US" dirty="0"/>
              <a:t>: path to the input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comparisonsFile</a:t>
            </a:r>
            <a:r>
              <a:rPr lang="en-US" dirty="0"/>
              <a:t>: path to the comparisons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“metabolomics”, “</a:t>
            </a:r>
            <a:r>
              <a:rPr lang="en-US" dirty="0" err="1"/>
              <a:t>rppa</a:t>
            </a:r>
            <a:r>
              <a:rPr lang="en-US" dirty="0"/>
              <a:t>”, or “none”. Use “none” for </a:t>
            </a:r>
            <a:r>
              <a:rPr lang="en-US" dirty="0" err="1"/>
              <a:t>prenormalized</a:t>
            </a:r>
            <a:r>
              <a:rPr lang="en-US" dirty="0"/>
              <a:t> data.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outdir</a:t>
            </a:r>
            <a:r>
              <a:rPr lang="en-US" dirty="0"/>
              <a:t>: path to output directory.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project_title</a:t>
            </a:r>
            <a:r>
              <a:rPr lang="en-US" dirty="0"/>
              <a:t>: project title to be used in the summary pptx.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project_subtitle</a:t>
            </a:r>
            <a:r>
              <a:rPr lang="en-US" dirty="0"/>
              <a:t>: project subtitle to be used in the summary pptx.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scriptPath</a:t>
            </a:r>
            <a:r>
              <a:rPr lang="en-US" dirty="0"/>
              <a:t>: path to R folder within the </a:t>
            </a:r>
            <a:r>
              <a:rPr lang="en-US" dirty="0" err="1"/>
              <a:t>runMODAC</a:t>
            </a:r>
            <a:r>
              <a:rPr lang="en-US" dirty="0"/>
              <a:t> folder on your system.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418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5883A-5E59-3E22-F4B3-09651AA388E1}"/>
              </a:ext>
            </a:extLst>
          </p:cNvPr>
          <p:cNvSpPr txBox="1"/>
          <p:nvPr/>
        </p:nvSpPr>
        <p:spPr>
          <a:xfrm>
            <a:off x="3668486" y="1720840"/>
            <a:ext cx="85235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heatmaps</a:t>
            </a:r>
            <a:r>
              <a:rPr lang="en-US" dirty="0"/>
              <a:t>: folder containing heatmaps in .jpg and .pdf format with supporting data used to generate the heatmap available in a .csv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pca</a:t>
            </a:r>
            <a:r>
              <a:rPr lang="en-US" dirty="0"/>
              <a:t>: folder containing </a:t>
            </a:r>
            <a:r>
              <a:rPr lang="en-US" dirty="0" err="1"/>
              <a:t>pca</a:t>
            </a:r>
            <a:r>
              <a:rPr lang="en-US" dirty="0"/>
              <a:t> plots in .jpg and .pdf format with supporting data used to generate the </a:t>
            </a:r>
            <a:r>
              <a:rPr lang="en-US" dirty="0" err="1"/>
              <a:t>pca</a:t>
            </a:r>
            <a:r>
              <a:rPr lang="en-US" dirty="0"/>
              <a:t> plots available in a .xlsx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QA_plots</a:t>
            </a:r>
            <a:r>
              <a:rPr lang="en-US" dirty="0"/>
              <a:t>: folder containing boxplots of the combined normalized data and normalized data per method as well as internal standard distribution and QC samples distribution plot per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</a:t>
            </a:r>
            <a:r>
              <a:rPr lang="en-US" dirty="0"/>
              <a:t>: folder containing raw combined data, normalized data, and for each comparison, boxplots of all features and statistical test report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report.pptx</a:t>
            </a:r>
            <a:r>
              <a:rPr lang="en-US" dirty="0"/>
              <a:t>: presentation containing a summary of the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Rnk</a:t>
            </a:r>
            <a:r>
              <a:rPr lang="en-US" dirty="0"/>
              <a:t>: folder containing the rank files for each comparison.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sessionInfo.txt</a:t>
            </a:r>
            <a:r>
              <a:rPr lang="en-US" b="1" dirty="0"/>
              <a:t>: </a:t>
            </a:r>
            <a:r>
              <a:rPr lang="en-US" dirty="0"/>
              <a:t>text file containing your R session information.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Signature</a:t>
            </a:r>
            <a:r>
              <a:rPr lang="en-US" dirty="0"/>
              <a:t>: folder containing the signature files for each comparison.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2728E-B5C4-B234-2739-E369C25B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4237"/>
            <a:ext cx="3569918" cy="528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1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EA82-6506-DFFE-6495-21464880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Pre-Normalized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07DBF-B79C-7DA2-07B5-64166409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446154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Input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7021286" y="2413334"/>
            <a:ext cx="5170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of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column contains sample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columns are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NAs or blank cells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4122A69-44E0-F868-C15A-136EFCFEE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657" y="976285"/>
            <a:ext cx="3722914" cy="5881715"/>
          </a:xfrm>
        </p:spPr>
      </p:pic>
    </p:spTree>
    <p:extLst>
      <p:ext uri="{BB962C8B-B14F-4D97-AF65-F5344CB8AC3E}">
        <p14:creationId xmlns:p14="http://schemas.microsoft.com/office/powerpoint/2010/main" val="117595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– Settings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5564910" y="968829"/>
            <a:ext cx="66270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statistic_selector</a:t>
            </a:r>
            <a:r>
              <a:rPr lang="en-US" dirty="0"/>
              <a:t>: “</a:t>
            </a:r>
            <a:r>
              <a:rPr lang="en-US" dirty="0" err="1"/>
              <a:t>pval</a:t>
            </a:r>
            <a:r>
              <a:rPr lang="en-US" dirty="0"/>
              <a:t>” or “</a:t>
            </a:r>
            <a:r>
              <a:rPr lang="en-US" dirty="0" err="1"/>
              <a:t>fdr</a:t>
            </a:r>
            <a:r>
              <a:rPr lang="en-US" dirty="0"/>
              <a:t>”. Use p-value or FDR for generating filtered heatmaps and signature files?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statistic_cutoff</a:t>
            </a:r>
            <a:r>
              <a:rPr lang="en-US" dirty="0"/>
              <a:t>: p-value or FDR threshold for generating filtered heatmaps and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fc_type</a:t>
            </a:r>
            <a:r>
              <a:rPr lang="en-US" dirty="0"/>
              <a:t>: “linear” or “log2”. Calculate linear fold change or log2 fold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linear_fc_cutoff</a:t>
            </a:r>
            <a:r>
              <a:rPr lang="en-US" dirty="0"/>
              <a:t>: Fold change threshold for generating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QC_row</a:t>
            </a:r>
            <a:r>
              <a:rPr lang="en-US" dirty="0"/>
              <a:t>: row index for the first QC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cv_cutoff_internal_standard</a:t>
            </a:r>
            <a:r>
              <a:rPr lang="en-US" dirty="0"/>
              <a:t>: Coefficient of variation (CV) threshold for internal standard (ISTD). Only ISTDs with CV lower than this threshold will be considered for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normalization</a:t>
            </a:r>
            <a:r>
              <a:rPr lang="en-US" dirty="0"/>
              <a:t>: “</a:t>
            </a:r>
            <a:r>
              <a:rPr lang="en-US" dirty="0" err="1"/>
              <a:t>istd</a:t>
            </a:r>
            <a:r>
              <a:rPr lang="en-US" dirty="0"/>
              <a:t>”, “</a:t>
            </a:r>
            <a:r>
              <a:rPr lang="en-US" dirty="0" err="1"/>
              <a:t>iqr</a:t>
            </a:r>
            <a:r>
              <a:rPr lang="en-US" dirty="0"/>
              <a:t>”, or “none”. Type of normalization to be performed – internal standard, interquartile range, or none?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log2transform</a:t>
            </a:r>
            <a:r>
              <a:rPr lang="en-US" dirty="0"/>
              <a:t>: Apply log2 transformation?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tab</a:t>
            </a:r>
            <a:r>
              <a:rPr lang="en-US" dirty="0"/>
              <a:t>: For ISTD normalization, write down names of all the methods below this.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ISTD_column</a:t>
            </a:r>
            <a:r>
              <a:rPr lang="en-US" dirty="0"/>
              <a:t>: For ISTD normalization, write down index of the first (or only) internal standard methods below this for all the methods.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B0BB4-D4C0-3C8D-A3F2-E2AC78A2A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72303"/>
            <a:ext cx="4615543" cy="58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5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- Comparisons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0C858-F3A7-9AD6-85CD-FBFFDA31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53" y="974725"/>
            <a:ext cx="3000865" cy="5883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8B9C20-FB97-BA6A-E4A6-FD3F463E2F8C}"/>
              </a:ext>
            </a:extLst>
          </p:cNvPr>
          <p:cNvSpPr txBox="1"/>
          <p:nvPr/>
        </p:nvSpPr>
        <p:spPr>
          <a:xfrm>
            <a:off x="5889171" y="968829"/>
            <a:ext cx="5747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comparison_name</a:t>
            </a:r>
            <a:r>
              <a:rPr lang="en-US" dirty="0"/>
              <a:t>: A label for this comparison. Format must be “</a:t>
            </a:r>
            <a:r>
              <a:rPr lang="en-US" dirty="0" err="1"/>
              <a:t>testgroup_over_controlgroup</a:t>
            </a:r>
            <a:r>
              <a:rPr lang="en-US" dirty="0"/>
              <a:t>” for t-test and “group1_group2_..._</a:t>
            </a:r>
            <a:r>
              <a:rPr lang="en-US" dirty="0" err="1"/>
              <a:t>groupn</a:t>
            </a:r>
            <a:r>
              <a:rPr lang="en-US" dirty="0"/>
              <a:t>” for ANOVA.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: ”t-test” or “</a:t>
            </a:r>
            <a:r>
              <a:rPr lang="en-US" dirty="0" err="1"/>
              <a:t>anova</a:t>
            </a:r>
            <a:r>
              <a:rPr lang="en-US" dirty="0"/>
              <a:t>”. Which statistical test to perform?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group_order_ctrl_test</a:t>
            </a:r>
            <a:r>
              <a:rPr lang="en-US" dirty="0"/>
              <a:t>: order in which to display the comparison groups in boxplots and heatmaps.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group that each sample belongs to. This can have all the groups or only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</a:t>
            </a:r>
            <a:r>
              <a:rPr lang="en-US" dirty="0"/>
              <a:t>: sample ID for all the samples or only samples belonging to the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Repeat this process creating a new sheet for all comparisons.</a:t>
            </a:r>
          </a:p>
        </p:txBody>
      </p:sp>
    </p:spTree>
    <p:extLst>
      <p:ext uri="{BB962C8B-B14F-4D97-AF65-F5344CB8AC3E}">
        <p14:creationId xmlns:p14="http://schemas.microsoft.com/office/powerpoint/2010/main" val="57313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7F6F9-9252-948A-C4A1-795026BE8DAD}"/>
              </a:ext>
            </a:extLst>
          </p:cNvPr>
          <p:cNvSpPr txBox="1"/>
          <p:nvPr/>
        </p:nvSpPr>
        <p:spPr>
          <a:xfrm>
            <a:off x="7108372" y="1859338"/>
            <a:ext cx="53231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inputFile</a:t>
            </a:r>
            <a:r>
              <a:rPr lang="en-US" dirty="0"/>
              <a:t>: path to the input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comparisonsFile</a:t>
            </a:r>
            <a:r>
              <a:rPr lang="en-US" dirty="0"/>
              <a:t>: path to the comparisons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“metabolomics”, “</a:t>
            </a:r>
            <a:r>
              <a:rPr lang="en-US" dirty="0" err="1"/>
              <a:t>rppa</a:t>
            </a:r>
            <a:r>
              <a:rPr lang="en-US" dirty="0"/>
              <a:t>”, or “none”. Use “none” for </a:t>
            </a:r>
            <a:r>
              <a:rPr lang="en-US" dirty="0" err="1"/>
              <a:t>prenormalized</a:t>
            </a:r>
            <a:r>
              <a:rPr lang="en-US" dirty="0"/>
              <a:t> data.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outdir</a:t>
            </a:r>
            <a:r>
              <a:rPr lang="en-US" dirty="0"/>
              <a:t>: path to output directory.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project_title</a:t>
            </a:r>
            <a:r>
              <a:rPr lang="en-US" dirty="0"/>
              <a:t>: project title to be used in the summary pptx.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project_subtitle</a:t>
            </a:r>
            <a:r>
              <a:rPr lang="en-US" dirty="0"/>
              <a:t>: project subtitle to be used in the summary pptx.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scriptPath</a:t>
            </a:r>
            <a:r>
              <a:rPr lang="en-US" dirty="0"/>
              <a:t>: path to R folder within the </a:t>
            </a:r>
            <a:r>
              <a:rPr lang="en-US" dirty="0" err="1"/>
              <a:t>runMODAC</a:t>
            </a:r>
            <a:r>
              <a:rPr lang="en-US" dirty="0"/>
              <a:t> folder on your system.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7B356-5350-C187-0625-4B30196E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8933"/>
            <a:ext cx="7108372" cy="136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4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5883A-5E59-3E22-F4B3-09651AA388E1}"/>
              </a:ext>
            </a:extLst>
          </p:cNvPr>
          <p:cNvSpPr txBox="1"/>
          <p:nvPr/>
        </p:nvSpPr>
        <p:spPr>
          <a:xfrm>
            <a:off x="3668486" y="1720840"/>
            <a:ext cx="85235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heatmaps</a:t>
            </a:r>
            <a:r>
              <a:rPr lang="en-US" dirty="0"/>
              <a:t>: folder containing heatmaps in .jpg and .pdf format with supporting data used to generate the heatmap available in a .csv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pca</a:t>
            </a:r>
            <a:r>
              <a:rPr lang="en-US" dirty="0"/>
              <a:t>: folder containing </a:t>
            </a:r>
            <a:r>
              <a:rPr lang="en-US" dirty="0" err="1"/>
              <a:t>pca</a:t>
            </a:r>
            <a:r>
              <a:rPr lang="en-US" dirty="0"/>
              <a:t> plots in .jpg and .pdf format with supporting data used to generate the </a:t>
            </a:r>
            <a:r>
              <a:rPr lang="en-US" dirty="0" err="1"/>
              <a:t>pca</a:t>
            </a:r>
            <a:r>
              <a:rPr lang="en-US" dirty="0"/>
              <a:t> plots available in a .xlsx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QA_plots</a:t>
            </a:r>
            <a:r>
              <a:rPr lang="en-US" dirty="0"/>
              <a:t>: folder containing boxplots of the combined normalized data and normalized data per method as well as internal standard distribution and QC samples distribution plot per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</a:t>
            </a:r>
            <a:r>
              <a:rPr lang="en-US" dirty="0"/>
              <a:t>: folder containing raw combined data, normalized data, and for each comparison, boxplots of all features and statistical test report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report.pptx</a:t>
            </a:r>
            <a:r>
              <a:rPr lang="en-US" dirty="0"/>
              <a:t>: presentation containing a summary of the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Rnk</a:t>
            </a:r>
            <a:r>
              <a:rPr lang="en-US" dirty="0"/>
              <a:t>: folder containing the rank files for each comparison.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sessionInfo.txt</a:t>
            </a:r>
            <a:r>
              <a:rPr lang="en-US" b="1" dirty="0"/>
              <a:t>: </a:t>
            </a:r>
            <a:r>
              <a:rPr lang="en-US" dirty="0"/>
              <a:t>text file containing your R session information.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Signature</a:t>
            </a:r>
            <a:r>
              <a:rPr lang="en-US" dirty="0"/>
              <a:t>: folder containing the signature files for each comparison.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FAF70-510F-9DF2-9754-FFD0AE386F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07" r="6464"/>
          <a:stretch/>
        </p:blipFill>
        <p:spPr>
          <a:xfrm>
            <a:off x="0" y="1129347"/>
            <a:ext cx="3419605" cy="526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46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Example 3 – Transposed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94A63-AB5C-ADA2-4E84-56F68C8D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743" y="968828"/>
            <a:ext cx="3320064" cy="4229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62090-5B64-25D3-2B09-191B61D29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35" y="974725"/>
            <a:ext cx="3000865" cy="5883275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AC83444-64D6-2F60-C23C-702F8C270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1" y="968828"/>
            <a:ext cx="4774471" cy="465535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F0E5F8-398B-025B-2100-8FA48F4A6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135" y="5653844"/>
            <a:ext cx="6096000" cy="119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92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Example 4 – RPPA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86ADD-94F2-CBB0-CA50-AC111BEC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933"/>
            <a:ext cx="6187031" cy="31831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34A69C-0306-A8CA-C42A-D3E2E8CB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83" y="2516946"/>
            <a:ext cx="2148467" cy="2466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AEA07B-3AC4-2D5E-4601-A6F9D7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050" y="962933"/>
            <a:ext cx="3810466" cy="27071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99DD88-871A-9F40-E3EC-3300C2BF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5066"/>
            <a:ext cx="6780954" cy="171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5095</TotalTime>
  <Words>1374</Words>
  <Application>Microsoft Macintosh PowerPoint</Application>
  <PresentationFormat>Widescreen</PresentationFormat>
  <Paragraphs>112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Intro to runMODAC</vt:lpstr>
      <vt:lpstr>PowerPoint Presentation</vt:lpstr>
      <vt:lpstr>PowerPoint Presentation</vt:lpstr>
      <vt:lpstr>Metabolomics</vt:lpstr>
      <vt:lpstr>Input File</vt:lpstr>
      <vt:lpstr>Comparisons File – Settings</vt:lpstr>
      <vt:lpstr>Comparisons File - Comparisons</vt:lpstr>
      <vt:lpstr>Code</vt:lpstr>
      <vt:lpstr>Results</vt:lpstr>
      <vt:lpstr>Pre-Normalized Data</vt:lpstr>
      <vt:lpstr>Input File</vt:lpstr>
      <vt:lpstr>Comparisons File – Settings</vt:lpstr>
      <vt:lpstr>Comparisons File - Comparisons</vt:lpstr>
      <vt:lpstr>Code</vt:lpstr>
      <vt:lpstr>Results</vt:lpstr>
      <vt:lpstr>Example 3 – Transposed Data</vt:lpstr>
      <vt:lpstr>Example 4 – RPPA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runMODAC</dc:title>
  <dc:creator>Gandhi, Tanmay</dc:creator>
  <cp:lastModifiedBy>Gandhi, Tanmay</cp:lastModifiedBy>
  <cp:revision>9</cp:revision>
  <dcterms:created xsi:type="dcterms:W3CDTF">2023-03-06T14:46:42Z</dcterms:created>
  <dcterms:modified xsi:type="dcterms:W3CDTF">2023-04-11T15:27:08Z</dcterms:modified>
</cp:coreProperties>
</file>