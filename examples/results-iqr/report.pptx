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officeDocument/2006/relationships/extended-properties" Target="docProps/app.xml"/>
<Relationship Id="rId2" Type="http://schemas.openxmlformats.org/package/2006/relationships/metadata/core-properties" Target="docProps/core.xml"/>
<Relationship Id="rId1" Type="http://schemas.openxmlformats.org/officeDocument/2006/relationships/officeDocument" Target="ppt/presentation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"/>
  </p:notesMasterIdLst>
  <p:handoutMasterIdLst>
    <p:handoutMasterId r:id="rId3"/>
  </p:handout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3E95266-8A91-634B-9D8A-82E9C2DFC7E6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98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627"/>
    <p:restoredTop sz="99310" autoAdjust="0"/>
  </p:normalViewPr>
  <p:slideViewPr>
    <p:cSldViewPr snapToGrid="0" snapToObjects="1">
      <p:cViewPr varScale="1">
        <p:scale>
          <a:sx n="131" d="100"/>
          <a:sy n="131" d="100"/>
        </p:scale>
        <p:origin x="130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72"/>
    </p:cViewPr>
  </p:sorterViewPr>
  <p:gridSpacing cx="76200" cy="76200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handoutMaster" Target="handoutMasters/handoutMaster1.xml"/>
<Relationship Id="rId7" Type="http://schemas.openxmlformats.org/officeDocument/2006/relationships/tableStyles" Target="tableStyles.xml"/>
<Relationship Id="rId2" Type="http://schemas.openxmlformats.org/officeDocument/2006/relationships/notesMaster" Target="notesMasters/notesMaster1.xml"/>
<Relationship Id="rId1" Type="http://schemas.openxmlformats.org/officeDocument/2006/relationships/slideMaster" Target="slideMasters/slideMaster1.xml"/>
<Relationship Id="rId6" Type="http://schemas.openxmlformats.org/officeDocument/2006/relationships/theme" Target="theme/theme1.xml"/>
<Relationship Id="rId5" Type="http://schemas.openxmlformats.org/officeDocument/2006/relationships/viewProps" Target="viewProps.xml"/>
<Relationship Id="rId4" Type="http://schemas.openxmlformats.org/officeDocument/2006/relationships/presProps" Target="presProps.xml"/>
<Relationship Id="rId8" Type="http://schemas.openxmlformats.org/officeDocument/2006/relationships/slide" Target="slides/slide1.xml"/>
<Relationship Id="rId9" Type="http://schemas.openxmlformats.org/officeDocument/2006/relationships/slide" Target="slides/slide2.xml"/>
<Relationship Id="rId10" Type="http://schemas.openxmlformats.org/officeDocument/2006/relationships/slide" Target="slides/slide3.xml"/>
<Relationship Id="rId11" Type="http://schemas.openxmlformats.org/officeDocument/2006/relationships/slide" Target="slides/slide4.xml"/>
<Relationship Id="rId12" Type="http://schemas.openxmlformats.org/officeDocument/2006/relationships/slide" Target="slides/slide5.xml"/>
<Relationship Id="rId13" Type="http://schemas.openxmlformats.org/officeDocument/2006/relationships/slide" Target="slides/slide6.xml"/>
<Relationship Id="rId14" Type="http://schemas.openxmlformats.org/officeDocument/2006/relationships/slide" Target="slides/slide7.xml"/>
<Relationship Id="rId15" Type="http://schemas.openxmlformats.org/officeDocument/2006/relationships/slide" Target="slides/slide8.xml"/>
<Relationship Id="rId16" Type="http://schemas.openxmlformats.org/officeDocument/2006/relationships/slide" Target="slides/slide9.xml"/>
<Relationship Id="rId17" Type="http://schemas.openxmlformats.org/officeDocument/2006/relationships/slide" Target="slides/slide10.xml"/>
<Relationship Id="rId18" Type="http://schemas.openxmlformats.org/officeDocument/2006/relationships/slide" Target="slides/slide11.xml"/>
<Relationship Id="rId19" Type="http://schemas.openxmlformats.org/officeDocument/2006/relationships/slide" Target="slides/slide12.xml"/>
<Relationship Id="rId20" Type="http://schemas.openxmlformats.org/officeDocument/2006/relationships/slide" Target="slides/slide13.xml"/>
</Relationships>
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475388-B706-A848-A46B-DDB877936374}" type="datetimeFigureOut">
              <a:rPr lang="en-US" smtClean="0"/>
              <a:t>1/29/18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418B3A-84A4-8742-8380-9258A83A48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040585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587B2F-58BE-554B-B170-DCECE273C696}" type="datetimeFigureOut">
              <a:rPr lang="en-US" smtClean="0"/>
              <a:t>1/29/18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EEF556-E94F-A84A-A7AB-DF543355B8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089830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4228229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65923"/>
            <a:ext cx="8229600" cy="54602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8E0D961-9B36-6D45-8D8C-1EBEC7A44DA6}"/>
              </a:ext>
            </a:extLst>
          </p:cNvPr>
          <p:cNvCxnSpPr/>
          <p:nvPr userDrawn="1"/>
        </p:nvCxnSpPr>
        <p:spPr>
          <a:xfrm>
            <a:off x="177266" y="661386"/>
            <a:ext cx="8807984" cy="0"/>
          </a:xfrm>
          <a:prstGeom prst="line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40795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l">
              <a:defRPr sz="2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776118"/>
            <a:ext cx="4040188" cy="639762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422667"/>
            <a:ext cx="4040188" cy="470349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782905"/>
            <a:ext cx="4041775" cy="639762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22667"/>
            <a:ext cx="4041775" cy="470349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85DF1B7-1ED9-3543-A017-68BCC855D1DE}"/>
              </a:ext>
            </a:extLst>
          </p:cNvPr>
          <p:cNvCxnSpPr/>
          <p:nvPr userDrawn="1"/>
        </p:nvCxnSpPr>
        <p:spPr>
          <a:xfrm>
            <a:off x="177266" y="661386"/>
            <a:ext cx="8807984" cy="0"/>
          </a:xfrm>
          <a:prstGeom prst="line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51529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283"/>
            <a:ext cx="8229600" cy="659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665924"/>
            <a:ext cx="8229600" cy="54602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480034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5" r:id="rId3"/>
  </p:sldLayoutIdLs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3200" kern="1200">
          <a:solidFill>
            <a:schemeClr val="tx1"/>
          </a:solidFill>
          <a:latin typeface="Garamond" panose="02020404030301010803" pitchFamily="18" charset="0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Garamond" panose="02020404030301010803" pitchFamily="18" charset="0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Garamond" panose="02020404030301010803" pitchFamily="18" charset="0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Garamond" panose="02020404030301010803" pitchFamily="18" charset="0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Garamond" panose="02020404030301010803" pitchFamily="18" charset="0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Garamond" panose="02020404030301010803" pitchFamily="18" charset="0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3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Relationship Id="rId2" Type="http://schemas.openxmlformats.org/officeDocument/2006/relationships/image" Target="../media/679d6700d7e23bf7837f56d0d216c522864ed449.jpg"/>
</Relationships>

</file>

<file path=ppt/slides/_rels/slide4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Relationship Id="rId2" Type="http://schemas.openxmlformats.org/officeDocument/2006/relationships/image" Target="../media/3c479ce48560851e69eeeb98681289115832d36f.jpg"/>
</Relationships>

</file>

<file path=ppt/slides/_rels/slide5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Relationship Id="rId2" Type="http://schemas.openxmlformats.org/officeDocument/2006/relationships/image" Target="../media/82ec7400036ece9e3c0a1362ed1c5d0480e22b36.jpg"/>
</Relationships>

</file>

<file path=ppt/slides/_rels/slide6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Relationship Id="rId2" Type="http://schemas.openxmlformats.org/officeDocument/2006/relationships/image" Target="../media/c2ba92f7812966a95ec695895cf1275af3f2a3ec.jpg"/>
<Relationship Id="rId3" Type="http://schemas.openxmlformats.org/officeDocument/2006/relationships/image" Target="../media/4daf7d22f45c41cf8c20b2ac828a79101c5ec75d.jpg"/>
</Relationships>

</file>

<file path=ppt/slides/_rels/slide7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Relationship Id="rId2" Type="http://schemas.openxmlformats.org/officeDocument/2006/relationships/image" Target="../media/b4cf4aa6844e04b49bbf9410c24ce7c487382f7a.jpg"/>
<Relationship Id="rId3" Type="http://schemas.openxmlformats.org/officeDocument/2006/relationships/image" Target="../media/c51f5dd456640fc85d37632dc0f8e15bdf6d350a.jpg"/>
</Relationships>

</file>

<file path=ppt/slides/_rels/slide8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Relationship Id="rId2" Type="http://schemas.openxmlformats.org/officeDocument/2006/relationships/image" Target="../media/b1eea4fee9e7537737fc60bf3e4d10a85d18d2ed.jpg"/>
<Relationship Id="rId3" Type="http://schemas.openxmlformats.org/officeDocument/2006/relationships/image" Target="../media/612499aa9399a27df8bdd5e66e3f986fafb18109.jpg"/>
</Relationships>

</file>

<file path=ppt/slides/_rels/slide9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Relationship Id="rId2" Type="http://schemas.openxmlformats.org/officeDocument/2006/relationships/image" Target="../media/ae1ae009db7a482dd0af9743dc9f56df7ae9834f.jpg"/>
<Relationship Id="rId3" Type="http://schemas.openxmlformats.org/officeDocument/2006/relationships/image" Target="../media/19d5f76f5b69391eae2dcbea9a904fcf00f5e97a.jpg"/>
</Relationships>

</file>

<file path=ppt/slides/_rels/slide10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Relationship Id="rId2" Type="http://schemas.openxmlformats.org/officeDocument/2006/relationships/image" Target="../media/eedb05075938f203813666f4de9b364d23d82486.jpg"/>
<Relationship Id="rId3" Type="http://schemas.openxmlformats.org/officeDocument/2006/relationships/image" Target="../media/02b68ba897727c9f3575c3bf48ceed825f0725b9.jpg"/>
</Relationships>

</file>

<file path=ppt/slides/_rels/slide1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Relationship Id="rId2" Type="http://schemas.openxmlformats.org/officeDocument/2006/relationships/image" Target="../media/0c4247eda71e2924fd7704a978a0b4799eceef53.jpg"/>
<Relationship Id="rId3" Type="http://schemas.openxmlformats.org/officeDocument/2006/relationships/image" Target="../media/f28d123a0f8948222cc77102137ac058dfcb18e2.jpg"/>
</Relationships>

</file>

<file path=ppt/slides/_rels/slide1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Relationship Id="rId2" Type="http://schemas.openxmlformats.org/officeDocument/2006/relationships/image" Target="../media/c292a5203e114310555ae089089cea3fdba6f707.jpg"/>
</Relationships>

</file>

<file path=ppt/slides/_rels/slide13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Relationship Id="rId2" Type="http://schemas.openxmlformats.org/officeDocument/2006/relationships/image" Target="../media/2556360950d7cad62f4306c65876a4ef5d0216c4.jpg"/>
<Relationship Id="rId3" Type="http://schemas.openxmlformats.org/officeDocument/2006/relationships/image" Target="../media/f4c4cb7f479bb2a0bc2360fc1ce4847535b662fd.jpg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/>
              <a:t>Project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r>
              <a:rPr/>
              <a:t>Metabolomics Analysis [IQR]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83"/>
            <a:ext cx="8229600" cy="659640"/>
          </a:xfrm>
        </p:spPr>
        <p:txBody>
          <a:bodyPr/>
          <a:lstStyle/>
          <a:p>
            <a:r>
              <a:rPr/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65923"/>
            <a:ext cx="8229600" cy="5460240"/>
          </a:xfrm>
        </p:spPr>
        <p:txBody>
          <a:bodyPr/>
          <a:lstStyle/>
          <a:p>
            <a:pPr/>
            <a:r>
              <a:rPr/>
              <a:t>Samples</a:t>
            </a:r>
          </a:p>
          <a:p>
            <a:pPr lvl="1"/>
            <a:r>
              <a:rPr/>
              <a:t>39 experimental samples</a:t>
            </a:r>
          </a:p>
          <a:p>
            <a:pPr/>
            <a:r>
              <a:rPr/>
              <a:t>Total of 23 features from 1 methods</a:t>
            </a:r>
          </a:p>
          <a:p>
            <a:pPr lvl="1"/>
            <a:r>
              <a:rPr/>
              <a:t>AminoAcids was normalized by IQR</a:t>
            </a:r>
          </a:p>
          <a:p>
            <a:pPr/>
            <a:r>
              <a:rPr/>
              <a:t>Comparisons performed</a:t>
            </a:r>
          </a:p>
          <a:p>
            <a:pPr lvl="1"/>
            <a:r>
              <a:rPr/>
              <a:t>t-test</a:t>
            </a:r>
          </a:p>
          <a:p>
            <a:pPr lvl="2"/>
            <a:r>
              <a:rPr/>
              <a:t>HFD-Dam_over_RD-Dam</a:t>
            </a:r>
          </a:p>
          <a:p>
            <a:pPr lvl="2"/>
            <a:r>
              <a:rPr/>
              <a:t>MaleMHFD_over_MaleMRD</a:t>
            </a:r>
          </a:p>
          <a:p>
            <a:pPr lvl="2"/>
            <a:r>
              <a:rPr/>
              <a:t>FemMHFD_over_FemMRD</a:t>
            </a:r>
          </a:p>
          <a:p>
            <a:pPr lvl="1"/>
            <a:r>
              <a:rPr/>
              <a:t>anova</a:t>
            </a:r>
          </a:p>
          <a:p>
            <a:pPr lvl="2"/>
            <a:r>
              <a:rPr/>
              <a:t>RDDam_HFDDam_MaleMRD_MaleMHFD_FemMRD_FemMHFD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83"/>
            <a:ext cx="8229600" cy="659640"/>
          </a:xfrm>
        </p:spPr>
        <p:txBody>
          <a:bodyPr/>
          <a:lstStyle/>
          <a:p>
            <a:r>
              <a:rPr/>
              <a:t>QA plots: all_samples</a:t>
            </a:r>
          </a:p>
        </p:txBody>
      </p:sp>
      <p:pic>
        <p:nvPicPr>
          <p:cNvPr id="3" name="" descr=""/>
          <p:cNvPicPr>
            <a:picLocks noGrp="1"/>
          </p:cNvPicPr>
          <p:nvPr>
            <p:ph/>
          </p:nvPr>
        </p:nvPicPr>
        <p:blipFill>
          <a:blip cstate="print" r:embed="rId2"/>
          <a:stretch>
            <a:fillRect/>
          </a:stretch>
        </p:blipFill>
        <p:spPr>
          <a:xfrm>
            <a:off x="457200" y="914400"/>
            <a:ext cx="4572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83"/>
            <a:ext cx="8229600" cy="659640"/>
          </a:xfrm>
        </p:spPr>
        <p:txBody>
          <a:bodyPr/>
          <a:lstStyle/>
          <a:p>
            <a:r>
              <a:rPr/>
              <a:t>QA plots: AminoAcids</a:t>
            </a:r>
          </a:p>
        </p:txBody>
      </p:sp>
      <p:pic>
        <p:nvPicPr>
          <p:cNvPr id="3" name="" descr=""/>
          <p:cNvPicPr>
            <a:picLocks noGrp="1"/>
          </p:cNvPicPr>
          <p:nvPr>
            <p:ph/>
          </p:nvPr>
        </p:nvPicPr>
        <p:blipFill>
          <a:blip cstate="print" r:embed="rId2"/>
          <a:stretch>
            <a:fillRect/>
          </a:stretch>
        </p:blipFill>
        <p:spPr>
          <a:xfrm>
            <a:off x="457200" y="914400"/>
            <a:ext cx="4572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83"/>
            <a:ext cx="8229600" cy="659640"/>
          </a:xfrm>
        </p:spPr>
        <p:txBody>
          <a:bodyPr/>
          <a:lstStyle/>
          <a:p>
            <a:r>
              <a:rPr/>
              <a:t>Liver Control: AminoAcids</a:t>
            </a:r>
          </a:p>
        </p:txBody>
      </p:sp>
      <p:pic>
        <p:nvPicPr>
          <p:cNvPr id="3" name="" descr=""/>
          <p:cNvPicPr>
            <a:picLocks noGrp="1"/>
          </p:cNvPicPr>
          <p:nvPr>
            <p:ph/>
          </p:nvPr>
        </p:nvPicPr>
        <p:blipFill>
          <a:blip cstate="print" r:embed="rId2"/>
          <a:stretch>
            <a:fillRect/>
          </a:stretch>
        </p:blipFill>
        <p:spPr>
          <a:xfrm>
            <a:off x="457200" y="914400"/>
            <a:ext cx="4572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83"/>
            <a:ext cx="8229600" cy="659640"/>
          </a:xfrm>
        </p:spPr>
        <p:txBody>
          <a:bodyPr/>
          <a:lstStyle/>
          <a:p>
            <a:r>
              <a:rPr/>
              <a:t>Comparison HFD-Dam_over_RD-Dam</a:t>
            </a:r>
          </a:p>
        </p:txBody>
      </p:sp>
      <p:sp>
        <p:nvSpPr>
          <p:cNvPr id="3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782905"/>
            <a:ext cx="4041775" cy="639762"/>
          </a:xfrm>
        </p:spPr>
        <p:txBody>
          <a:bodyPr/>
          <a:lstStyle/>
          <a:p>
            <a:r>
              <a:rPr/>
              <a:t>Normalized PCA</a:t>
            </a:r>
          </a:p>
        </p:txBody>
      </p:sp>
      <p:sp>
        <p:nvSpPr>
          <p:cNvPr id="4" name="Text Placeholder 2"/>
          <p:cNvSpPr>
            <a:spLocks noGrp="1"/>
          </p:cNvSpPr>
          <p:nvPr>
            <p:ph type="body" idx="1"/>
          </p:nvPr>
        </p:nvSpPr>
        <p:spPr>
          <a:xfrm>
            <a:off x="457200" y="776118"/>
            <a:ext cx="4040188" cy="639762"/>
          </a:xfrm>
        </p:spPr>
        <p:txBody>
          <a:bodyPr/>
          <a:lstStyle/>
          <a:p>
            <a:r>
              <a:rPr/>
              <a:t>Raw PCA</a:t>
            </a:r>
          </a:p>
        </p:txBody>
      </p:sp>
      <p:pic>
        <p:nvPicPr>
          <p:cNvPr id="5" name="" descr=""/>
          <p:cNvPicPr>
            <a:picLocks noGrp="1"/>
          </p:cNvPicPr>
          <p:nvPr>
            <p:ph/>
          </p:nvPr>
        </p:nvPicPr>
        <p:blipFill>
          <a:blip cstate="print" r:embed="rId2"/>
          <a:stretch>
            <a:fillRect/>
          </a:stretch>
        </p:blipFill>
        <p:spPr>
          <a:xfrm>
            <a:off x="4645152" y="1426464"/>
            <a:ext cx="4114800" cy="3886200"/>
          </a:xfrm>
          <a:prstGeom prst="rect">
            <a:avLst/>
          </a:prstGeom>
        </p:spPr>
      </p:pic>
      <p:pic>
        <p:nvPicPr>
          <p:cNvPr id="6" name="" descr=""/>
          <p:cNvPicPr>
            <a:picLocks noGrp="1"/>
          </p:cNvPicPr>
          <p:nvPr>
            <p:ph/>
          </p:nvPr>
        </p:nvPicPr>
        <p:blipFill>
          <a:blip cstate="print" r:embed="rId3"/>
          <a:stretch>
            <a:fillRect/>
          </a:stretch>
        </p:blipFill>
        <p:spPr>
          <a:xfrm>
            <a:off x="457200" y="1426464"/>
            <a:ext cx="41148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83"/>
            <a:ext cx="8229600" cy="659640"/>
          </a:xfrm>
        </p:spPr>
        <p:txBody>
          <a:bodyPr/>
          <a:lstStyle/>
          <a:p>
            <a:r>
              <a:rPr/>
              <a:t>Comparison MaleMHFD_over_MaleMRD</a:t>
            </a:r>
          </a:p>
        </p:txBody>
      </p:sp>
      <p:sp>
        <p:nvSpPr>
          <p:cNvPr id="3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782905"/>
            <a:ext cx="4041775" cy="639762"/>
          </a:xfrm>
        </p:spPr>
        <p:txBody>
          <a:bodyPr/>
          <a:lstStyle/>
          <a:p>
            <a:r>
              <a:rPr/>
              <a:t>Normalized PCA</a:t>
            </a:r>
          </a:p>
        </p:txBody>
      </p:sp>
      <p:sp>
        <p:nvSpPr>
          <p:cNvPr id="4" name="Text Placeholder 2"/>
          <p:cNvSpPr>
            <a:spLocks noGrp="1"/>
          </p:cNvSpPr>
          <p:nvPr>
            <p:ph type="body" idx="1"/>
          </p:nvPr>
        </p:nvSpPr>
        <p:spPr>
          <a:xfrm>
            <a:off x="457200" y="776118"/>
            <a:ext cx="4040188" cy="639762"/>
          </a:xfrm>
        </p:spPr>
        <p:txBody>
          <a:bodyPr/>
          <a:lstStyle/>
          <a:p>
            <a:r>
              <a:rPr/>
              <a:t>Raw PCA</a:t>
            </a:r>
          </a:p>
        </p:txBody>
      </p:sp>
      <p:pic>
        <p:nvPicPr>
          <p:cNvPr id="5" name="" descr=""/>
          <p:cNvPicPr>
            <a:picLocks noGrp="1"/>
          </p:cNvPicPr>
          <p:nvPr>
            <p:ph/>
          </p:nvPr>
        </p:nvPicPr>
        <p:blipFill>
          <a:blip cstate="print" r:embed="rId2"/>
          <a:stretch>
            <a:fillRect/>
          </a:stretch>
        </p:blipFill>
        <p:spPr>
          <a:xfrm>
            <a:off x="4645152" y="1426464"/>
            <a:ext cx="4114800" cy="3886200"/>
          </a:xfrm>
          <a:prstGeom prst="rect">
            <a:avLst/>
          </a:prstGeom>
        </p:spPr>
      </p:pic>
      <p:pic>
        <p:nvPicPr>
          <p:cNvPr id="6" name="" descr=""/>
          <p:cNvPicPr>
            <a:picLocks noGrp="1"/>
          </p:cNvPicPr>
          <p:nvPr>
            <p:ph/>
          </p:nvPr>
        </p:nvPicPr>
        <p:blipFill>
          <a:blip cstate="print" r:embed="rId3"/>
          <a:stretch>
            <a:fillRect/>
          </a:stretch>
        </p:blipFill>
        <p:spPr>
          <a:xfrm>
            <a:off x="457200" y="1426464"/>
            <a:ext cx="41148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83"/>
            <a:ext cx="8229600" cy="659640"/>
          </a:xfrm>
        </p:spPr>
        <p:txBody>
          <a:bodyPr/>
          <a:lstStyle/>
          <a:p>
            <a:r>
              <a:rPr/>
              <a:t>Comparison FemMHFD_over_FemMRD</a:t>
            </a:r>
          </a:p>
        </p:txBody>
      </p:sp>
      <p:sp>
        <p:nvSpPr>
          <p:cNvPr id="3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782905"/>
            <a:ext cx="4041775" cy="639762"/>
          </a:xfrm>
        </p:spPr>
        <p:txBody>
          <a:bodyPr/>
          <a:lstStyle/>
          <a:p>
            <a:r>
              <a:rPr/>
              <a:t>Normalized PCA</a:t>
            </a:r>
          </a:p>
        </p:txBody>
      </p:sp>
      <p:sp>
        <p:nvSpPr>
          <p:cNvPr id="4" name="Text Placeholder 2"/>
          <p:cNvSpPr>
            <a:spLocks noGrp="1"/>
          </p:cNvSpPr>
          <p:nvPr>
            <p:ph type="body" idx="1"/>
          </p:nvPr>
        </p:nvSpPr>
        <p:spPr>
          <a:xfrm>
            <a:off x="457200" y="776118"/>
            <a:ext cx="4040188" cy="639762"/>
          </a:xfrm>
        </p:spPr>
        <p:txBody>
          <a:bodyPr/>
          <a:lstStyle/>
          <a:p>
            <a:r>
              <a:rPr/>
              <a:t>Raw PCA</a:t>
            </a:r>
          </a:p>
        </p:txBody>
      </p:sp>
      <p:pic>
        <p:nvPicPr>
          <p:cNvPr id="5" name="" descr=""/>
          <p:cNvPicPr>
            <a:picLocks noGrp="1"/>
          </p:cNvPicPr>
          <p:nvPr>
            <p:ph/>
          </p:nvPr>
        </p:nvPicPr>
        <p:blipFill>
          <a:blip cstate="print" r:embed="rId2"/>
          <a:stretch>
            <a:fillRect/>
          </a:stretch>
        </p:blipFill>
        <p:spPr>
          <a:xfrm>
            <a:off x="4645152" y="1426464"/>
            <a:ext cx="4114800" cy="3886200"/>
          </a:xfrm>
          <a:prstGeom prst="rect">
            <a:avLst/>
          </a:prstGeom>
        </p:spPr>
      </p:pic>
      <p:pic>
        <p:nvPicPr>
          <p:cNvPr id="6" name="" descr=""/>
          <p:cNvPicPr>
            <a:picLocks noGrp="1"/>
          </p:cNvPicPr>
          <p:nvPr>
            <p:ph/>
          </p:nvPr>
        </p:nvPicPr>
        <p:blipFill>
          <a:blip cstate="print" r:embed="rId3"/>
          <a:stretch>
            <a:fillRect/>
          </a:stretch>
        </p:blipFill>
        <p:spPr>
          <a:xfrm>
            <a:off x="457200" y="1426464"/>
            <a:ext cx="41148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83"/>
            <a:ext cx="8229600" cy="659640"/>
          </a:xfrm>
        </p:spPr>
        <p:txBody>
          <a:bodyPr/>
          <a:lstStyle/>
          <a:p>
            <a:r>
              <a:rPr/>
              <a:t>Comparison RDDam_HFDDam_MaleMRD_MaleMHFD_FemMRD_FemMHFD</a:t>
            </a:r>
          </a:p>
        </p:txBody>
      </p:sp>
      <p:sp>
        <p:nvSpPr>
          <p:cNvPr id="3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782905"/>
            <a:ext cx="4041775" cy="639762"/>
          </a:xfrm>
        </p:spPr>
        <p:txBody>
          <a:bodyPr/>
          <a:lstStyle/>
          <a:p>
            <a:r>
              <a:rPr/>
              <a:t>Normalized PCA</a:t>
            </a:r>
          </a:p>
        </p:txBody>
      </p:sp>
      <p:sp>
        <p:nvSpPr>
          <p:cNvPr id="4" name="Text Placeholder 2"/>
          <p:cNvSpPr>
            <a:spLocks noGrp="1"/>
          </p:cNvSpPr>
          <p:nvPr>
            <p:ph type="body" idx="1"/>
          </p:nvPr>
        </p:nvSpPr>
        <p:spPr>
          <a:xfrm>
            <a:off x="457200" y="776118"/>
            <a:ext cx="4040188" cy="639762"/>
          </a:xfrm>
        </p:spPr>
        <p:txBody>
          <a:bodyPr/>
          <a:lstStyle/>
          <a:p>
            <a:r>
              <a:rPr/>
              <a:t>Raw PCA</a:t>
            </a:r>
          </a:p>
        </p:txBody>
      </p:sp>
      <p:pic>
        <p:nvPicPr>
          <p:cNvPr id="5" name="" descr=""/>
          <p:cNvPicPr>
            <a:picLocks noGrp="1"/>
          </p:cNvPicPr>
          <p:nvPr>
            <p:ph/>
          </p:nvPr>
        </p:nvPicPr>
        <p:blipFill>
          <a:blip cstate="print" r:embed="rId2"/>
          <a:stretch>
            <a:fillRect/>
          </a:stretch>
        </p:blipFill>
        <p:spPr>
          <a:xfrm>
            <a:off x="4645152" y="1426464"/>
            <a:ext cx="4114800" cy="3886200"/>
          </a:xfrm>
          <a:prstGeom prst="rect">
            <a:avLst/>
          </a:prstGeom>
        </p:spPr>
      </p:pic>
      <p:pic>
        <p:nvPicPr>
          <p:cNvPr id="6" name="" descr=""/>
          <p:cNvPicPr>
            <a:picLocks noGrp="1"/>
          </p:cNvPicPr>
          <p:nvPr>
            <p:ph/>
          </p:nvPr>
        </p:nvPicPr>
        <p:blipFill>
          <a:blip cstate="print" r:embed="rId3"/>
          <a:stretch>
            <a:fillRect/>
          </a:stretch>
        </p:blipFill>
        <p:spPr>
          <a:xfrm>
            <a:off x="457200" y="1426464"/>
            <a:ext cx="41148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83"/>
            <a:ext cx="8229600" cy="659640"/>
          </a:xfrm>
        </p:spPr>
        <p:txBody>
          <a:bodyPr/>
          <a:lstStyle/>
          <a:p>
            <a:r>
              <a:rPr/>
              <a:t>Comparison HFD-Dam_over_RD-Dam</a:t>
            </a:r>
          </a:p>
        </p:txBody>
      </p:sp>
      <p:sp>
        <p:nvSpPr>
          <p:cNvPr id="3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782905"/>
            <a:ext cx="4041775" cy="639762"/>
          </a:xfrm>
        </p:spPr>
        <p:txBody>
          <a:bodyPr/>
          <a:lstStyle/>
          <a:p>
            <a:r>
              <a:rPr/>
              <a:t>Differential fdr&lt;0.25</a:t>
            </a:r>
          </a:p>
        </p:txBody>
      </p:sp>
      <p:sp>
        <p:nvSpPr>
          <p:cNvPr id="4" name="Text Placeholder 2"/>
          <p:cNvSpPr>
            <a:spLocks noGrp="1"/>
          </p:cNvSpPr>
          <p:nvPr>
            <p:ph type="body" idx="1"/>
          </p:nvPr>
        </p:nvSpPr>
        <p:spPr>
          <a:xfrm>
            <a:off x="457200" y="776118"/>
            <a:ext cx="4040188" cy="639762"/>
          </a:xfrm>
        </p:spPr>
        <p:txBody>
          <a:bodyPr/>
          <a:lstStyle/>
          <a:p>
            <a:r>
              <a:rPr/>
              <a:t>Complete Set fdr=1</a:t>
            </a:r>
          </a:p>
        </p:txBody>
      </p:sp>
      <p:pic>
        <p:nvPicPr>
          <p:cNvPr id="5" name="" descr=""/>
          <p:cNvPicPr>
            <a:picLocks noGrp="1"/>
          </p:cNvPicPr>
          <p:nvPr>
            <p:ph/>
          </p:nvPr>
        </p:nvPicPr>
        <p:blipFill>
          <a:blip cstate="print" r:embed="rId2"/>
          <a:stretch>
            <a:fillRect/>
          </a:stretch>
        </p:blipFill>
        <p:spPr>
          <a:xfrm>
            <a:off x="4645152" y="1426464"/>
            <a:ext cx="4114800" cy="5440680"/>
          </a:xfrm>
          <a:prstGeom prst="rect">
            <a:avLst/>
          </a:prstGeom>
        </p:spPr>
      </p:pic>
      <p:pic>
        <p:nvPicPr>
          <p:cNvPr id="6" name="" descr=""/>
          <p:cNvPicPr>
            <a:picLocks noGrp="1"/>
          </p:cNvPicPr>
          <p:nvPr>
            <p:ph/>
          </p:nvPr>
        </p:nvPicPr>
        <p:blipFill>
          <a:blip cstate="print" r:embed="rId3"/>
          <a:stretch>
            <a:fillRect/>
          </a:stretch>
        </p:blipFill>
        <p:spPr>
          <a:xfrm>
            <a:off x="457200" y="1426464"/>
            <a:ext cx="4114800" cy="54406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83"/>
            <a:ext cx="8229600" cy="659640"/>
          </a:xfrm>
        </p:spPr>
        <p:txBody>
          <a:bodyPr/>
          <a:lstStyle/>
          <a:p>
            <a:r>
              <a:rPr/>
              <a:t>Comparison MaleMHFD_over_MaleMRD</a:t>
            </a:r>
          </a:p>
        </p:txBody>
      </p:sp>
      <p:sp>
        <p:nvSpPr>
          <p:cNvPr id="3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782905"/>
            <a:ext cx="4041775" cy="639762"/>
          </a:xfrm>
        </p:spPr>
        <p:txBody>
          <a:bodyPr/>
          <a:lstStyle/>
          <a:p>
            <a:r>
              <a:rPr/>
              <a:t>Differential fdr&lt;0.25</a:t>
            </a:r>
          </a:p>
        </p:txBody>
      </p:sp>
      <p:sp>
        <p:nvSpPr>
          <p:cNvPr id="4" name="Text Placeholder 2"/>
          <p:cNvSpPr>
            <a:spLocks noGrp="1"/>
          </p:cNvSpPr>
          <p:nvPr>
            <p:ph type="body" idx="1"/>
          </p:nvPr>
        </p:nvSpPr>
        <p:spPr>
          <a:xfrm>
            <a:off x="457200" y="776118"/>
            <a:ext cx="4040188" cy="639762"/>
          </a:xfrm>
        </p:spPr>
        <p:txBody>
          <a:bodyPr/>
          <a:lstStyle/>
          <a:p>
            <a:r>
              <a:rPr/>
              <a:t>Complete Set fdr=1</a:t>
            </a:r>
          </a:p>
        </p:txBody>
      </p:sp>
      <p:pic>
        <p:nvPicPr>
          <p:cNvPr id="5" name="" descr=""/>
          <p:cNvPicPr>
            <a:picLocks noGrp="1"/>
          </p:cNvPicPr>
          <p:nvPr>
            <p:ph/>
          </p:nvPr>
        </p:nvPicPr>
        <p:blipFill>
          <a:blip cstate="print" r:embed="rId2"/>
          <a:stretch>
            <a:fillRect/>
          </a:stretch>
        </p:blipFill>
        <p:spPr>
          <a:xfrm>
            <a:off x="4645152" y="1426464"/>
            <a:ext cx="4114800" cy="5440680"/>
          </a:xfrm>
          <a:prstGeom prst="rect">
            <a:avLst/>
          </a:prstGeom>
        </p:spPr>
      </p:pic>
      <p:pic>
        <p:nvPicPr>
          <p:cNvPr id="6" name="" descr=""/>
          <p:cNvPicPr>
            <a:picLocks noGrp="1"/>
          </p:cNvPicPr>
          <p:nvPr>
            <p:ph/>
          </p:nvPr>
        </p:nvPicPr>
        <p:blipFill>
          <a:blip cstate="print" r:embed="rId3"/>
          <a:stretch>
            <a:fillRect/>
          </a:stretch>
        </p:blipFill>
        <p:spPr>
          <a:xfrm>
            <a:off x="457200" y="1426464"/>
            <a:ext cx="4114800" cy="54406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83"/>
            <a:ext cx="8229600" cy="659640"/>
          </a:xfrm>
        </p:spPr>
        <p:txBody>
          <a:bodyPr/>
          <a:lstStyle/>
          <a:p>
            <a:r>
              <a:rPr/>
              <a:t>Comparison FemMHFD_over_FemMRD</a:t>
            </a:r>
          </a:p>
        </p:txBody>
      </p:sp>
      <p:sp>
        <p:nvSpPr>
          <p:cNvPr id="3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782905"/>
            <a:ext cx="4041775" cy="639762"/>
          </a:xfrm>
        </p:spPr>
        <p:txBody>
          <a:bodyPr/>
          <a:lstStyle/>
          <a:p>
            <a:r>
              <a:rPr/>
              <a:t>Differential fdr&lt;0.25</a:t>
            </a:r>
          </a:p>
        </p:txBody>
      </p:sp>
      <p:sp>
        <p:nvSpPr>
          <p:cNvPr id="4" name="Text Placeholder 2"/>
          <p:cNvSpPr>
            <a:spLocks noGrp="1"/>
          </p:cNvSpPr>
          <p:nvPr>
            <p:ph type="body" idx="1"/>
          </p:nvPr>
        </p:nvSpPr>
        <p:spPr>
          <a:xfrm>
            <a:off x="457200" y="776118"/>
            <a:ext cx="4040188" cy="639762"/>
          </a:xfrm>
        </p:spPr>
        <p:txBody>
          <a:bodyPr/>
          <a:lstStyle/>
          <a:p>
            <a:r>
              <a:rPr/>
              <a:t>Complete Set fdr=1</a:t>
            </a:r>
          </a:p>
        </p:txBody>
      </p:sp>
      <p:pic>
        <p:nvPicPr>
          <p:cNvPr id="5" name="" descr=""/>
          <p:cNvPicPr>
            <a:picLocks noGrp="1"/>
          </p:cNvPicPr>
          <p:nvPr>
            <p:ph/>
          </p:nvPr>
        </p:nvPicPr>
        <p:blipFill>
          <a:blip cstate="print" r:embed="rId2"/>
          <a:stretch>
            <a:fillRect/>
          </a:stretch>
        </p:blipFill>
        <p:spPr>
          <a:xfrm>
            <a:off x="457200" y="1426464"/>
            <a:ext cx="4114800" cy="54406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83"/>
            <a:ext cx="8229600" cy="659640"/>
          </a:xfrm>
        </p:spPr>
        <p:txBody>
          <a:bodyPr/>
          <a:lstStyle/>
          <a:p>
            <a:r>
              <a:rPr/>
              <a:t>Comparison RDDam_HFDDam_MaleMRD_MaleMHFD_FemMRD_FemMHFD</a:t>
            </a:r>
          </a:p>
        </p:txBody>
      </p:sp>
      <p:sp>
        <p:nvSpPr>
          <p:cNvPr id="3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782905"/>
            <a:ext cx="4041775" cy="639762"/>
          </a:xfrm>
        </p:spPr>
        <p:txBody>
          <a:bodyPr/>
          <a:lstStyle/>
          <a:p>
            <a:r>
              <a:rPr/>
              <a:t>Differential fdr&lt;0.25</a:t>
            </a:r>
          </a:p>
        </p:txBody>
      </p:sp>
      <p:sp>
        <p:nvSpPr>
          <p:cNvPr id="4" name="Text Placeholder 2"/>
          <p:cNvSpPr>
            <a:spLocks noGrp="1"/>
          </p:cNvSpPr>
          <p:nvPr>
            <p:ph type="body" idx="1"/>
          </p:nvPr>
        </p:nvSpPr>
        <p:spPr>
          <a:xfrm>
            <a:off x="457200" y="776118"/>
            <a:ext cx="4040188" cy="639762"/>
          </a:xfrm>
        </p:spPr>
        <p:txBody>
          <a:bodyPr/>
          <a:lstStyle/>
          <a:p>
            <a:r>
              <a:rPr/>
              <a:t>Complete Set fdr=1</a:t>
            </a:r>
          </a:p>
        </p:txBody>
      </p:sp>
      <p:pic>
        <p:nvPicPr>
          <p:cNvPr id="5" name="" descr=""/>
          <p:cNvPicPr>
            <a:picLocks noGrp="1"/>
          </p:cNvPicPr>
          <p:nvPr>
            <p:ph/>
          </p:nvPr>
        </p:nvPicPr>
        <p:blipFill>
          <a:blip cstate="print" r:embed="rId2"/>
          <a:stretch>
            <a:fillRect/>
          </a:stretch>
        </p:blipFill>
        <p:spPr>
          <a:xfrm>
            <a:off x="4645152" y="1426464"/>
            <a:ext cx="4114800" cy="5440680"/>
          </a:xfrm>
          <a:prstGeom prst="rect">
            <a:avLst/>
          </a:prstGeom>
        </p:spPr>
      </p:pic>
      <p:pic>
        <p:nvPicPr>
          <p:cNvPr id="6" name="" descr=""/>
          <p:cNvPicPr>
            <a:picLocks noGrp="1"/>
          </p:cNvPicPr>
          <p:nvPr>
            <p:ph/>
          </p:nvPr>
        </p:nvPicPr>
        <p:blipFill>
          <a:blip cstate="print" r:embed="rId3"/>
          <a:stretch>
            <a:fillRect/>
          </a:stretch>
        </p:blipFill>
        <p:spPr>
          <a:xfrm>
            <a:off x="457200" y="1426464"/>
            <a:ext cx="4114800" cy="5440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34409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4" baseType="lpstr">
      <vt:lpstr>Arial</vt:lpstr>
      <vt:lpstr>Calibri</vt:lpstr>
      <vt:lpstr>Garamond</vt:lpstr>
      <vt:lpstr>Custom Design</vt:lpstr>
    </vt:vector>
  </TitlesOfParts>
  <Company>University of Houston</Company>
  <LinksUpToDate>false</LinksUpToDate>
  <SharedDoc>false</SharedDoc>
  <HyperlinksChanged>false</HyperlinksChanged>
  <AppVersion>16.0009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PowerPoint Presentation</dc:title>
  <dc:creator>Badrajee Piyarathna</dc:creator>
  <cp:lastModifiedBy>tanmaygandhi</cp:lastModifiedBy>
  <cp:revision>974</cp:revision>
  <cp:lastPrinted>2016-08-06T16:03:59Z</cp:lastPrinted>
  <dcterms:created xsi:type="dcterms:W3CDTF">2012-05-09T00:27:15Z</dcterms:created>
  <dcterms:modified xsi:type="dcterms:W3CDTF">2023-10-02T12:47:51Z</dcterms:modified>
</cp:coreProperties>
</file>