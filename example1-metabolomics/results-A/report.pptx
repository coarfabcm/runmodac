
<file path=[Content_Types].xml><?xml version="1.0" encoding="utf-8"?>
<Types xmlns="http://schemas.openxmlformats.org/package/2006/content-types">
  <Default Extension="jpg" ContentType="application/octet-stream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6"/>
  </p:notesMasterIdLst>
  <p:handoutMasterIdLst>
    <p:handoutMasterId r:id="rId17"/>
  </p:handout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23E95266-8A91-634B-9D8A-82E9C2DFC7E6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898D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0627"/>
    <p:restoredTop sz="99310" autoAdjust="0"/>
  </p:normalViewPr>
  <p:slideViewPr>
    <p:cSldViewPr snapToGrid="0" snapToObjects="1">
      <p:cViewPr varScale="1">
        <p:scale>
          <a:sx n="124" d="100"/>
          <a:sy n="124" d="100"/>
        </p:scale>
        <p:origin x="1408" y="16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72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2475388-B706-A848-A46B-DDB877936374}" type="datetimeFigureOut">
              <a:rPr lang="en-US" smtClean="0"/>
              <a:t>3/29/23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2418B3A-84A4-8742-8380-9258A83A48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0405858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5587B2F-58BE-554B-B170-DCECE273C696}" type="datetimeFigureOut">
              <a:rPr lang="en-US" smtClean="0"/>
              <a:t>3/29/23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EEF556-E94F-A84A-A7AB-DF543355B8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089830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4228229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665923"/>
            <a:ext cx="8229600" cy="546024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8E0D961-9B36-6D45-8D8C-1EBEC7A44DA6}"/>
              </a:ext>
            </a:extLst>
          </p:cNvPr>
          <p:cNvCxnSpPr/>
          <p:nvPr userDrawn="1"/>
        </p:nvCxnSpPr>
        <p:spPr>
          <a:xfrm>
            <a:off x="177266" y="661386"/>
            <a:ext cx="8807984" cy="0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340795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l">
              <a:defRPr sz="2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 anchor="b"/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422667"/>
            <a:ext cx="4040188" cy="470349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 anchor="b"/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1422667"/>
            <a:ext cx="4041775" cy="470349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85DF1B7-1ED9-3543-A017-68BCC855D1DE}"/>
              </a:ext>
            </a:extLst>
          </p:cNvPr>
          <p:cNvCxnSpPr/>
          <p:nvPr userDrawn="1"/>
        </p:nvCxnSpPr>
        <p:spPr>
          <a:xfrm>
            <a:off x="177266" y="661386"/>
            <a:ext cx="8807984" cy="0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51529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665924"/>
            <a:ext cx="8229600" cy="54602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480034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5" r:id="rId3"/>
  </p:sldLayoutIdLst>
  <p:hf sldNum="0" hdr="0" ftr="0" dt="0"/>
  <p:txStyles>
    <p:titleStyle>
      <a:lvl1pPr algn="ctr" defTabSz="457200" rtl="0" eaLnBrk="1" latinLnBrk="0" hangingPunct="1">
        <a:spcBef>
          <a:spcPct val="0"/>
        </a:spcBef>
        <a:buNone/>
        <a:defRPr sz="3200" kern="1200">
          <a:solidFill>
            <a:schemeClr val="tx1"/>
          </a:solidFill>
          <a:latin typeface="Garamond" panose="02020404030301010803" pitchFamily="18" charset="0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g"/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t>Project Report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r>
              <a:t>Metabolomics Analysis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t>Project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665923"/>
            <a:ext cx="8229600" cy="5460240"/>
          </a:xfrm>
        </p:spPr>
        <p:txBody>
          <a:bodyPr>
            <a:normAutofit fontScale="92500" lnSpcReduction="20000"/>
          </a:bodyPr>
          <a:lstStyle/>
          <a:p>
            <a:r>
              <a:rPr dirty="0"/>
              <a:t>Samples</a:t>
            </a:r>
            <a:r>
              <a:rPr lang="en-US" dirty="0"/>
              <a:t> </a:t>
            </a:r>
            <a:endParaRPr dirty="0"/>
          </a:p>
          <a:p>
            <a:pPr lvl="1"/>
            <a:r>
              <a:rPr dirty="0"/>
              <a:t>39 experimental samples</a:t>
            </a:r>
          </a:p>
          <a:p>
            <a:pPr lvl="1"/>
            <a:r>
              <a:rPr dirty="0"/>
              <a:t>3 liver control samples</a:t>
            </a:r>
          </a:p>
          <a:p>
            <a:r>
              <a:rPr dirty="0"/>
              <a:t>Total of 23 features from 1 methods</a:t>
            </a:r>
          </a:p>
          <a:p>
            <a:pPr lvl="1"/>
            <a:r>
              <a:rPr dirty="0" err="1"/>
              <a:t>AminoAcids</a:t>
            </a:r>
            <a:r>
              <a:rPr dirty="0"/>
              <a:t> was normalized by Internal Standard L-Tryptophan (ISTD) [CV = 0.05]</a:t>
            </a:r>
          </a:p>
          <a:p>
            <a:r>
              <a:rPr dirty="0"/>
              <a:t>Comparisons performed</a:t>
            </a:r>
          </a:p>
          <a:p>
            <a:pPr lvl="1"/>
            <a:r>
              <a:rPr dirty="0"/>
              <a:t>t-test</a:t>
            </a:r>
          </a:p>
          <a:p>
            <a:pPr lvl="2"/>
            <a:r>
              <a:rPr dirty="0" err="1"/>
              <a:t>HFDDam_over_RDDam</a:t>
            </a:r>
            <a:endParaRPr dirty="0"/>
          </a:p>
          <a:p>
            <a:pPr lvl="2"/>
            <a:r>
              <a:rPr dirty="0" err="1"/>
              <a:t>MaleMHFD_over_MaleMRD</a:t>
            </a:r>
            <a:endParaRPr dirty="0"/>
          </a:p>
          <a:p>
            <a:pPr lvl="2"/>
            <a:r>
              <a:rPr dirty="0" err="1"/>
              <a:t>FemMHFD_over_FemMRD</a:t>
            </a:r>
            <a:endParaRPr dirty="0"/>
          </a:p>
          <a:p>
            <a:pPr lvl="1"/>
            <a:r>
              <a:rPr dirty="0" err="1"/>
              <a:t>anova</a:t>
            </a:r>
            <a:endParaRPr dirty="0"/>
          </a:p>
          <a:p>
            <a:pPr lvl="2"/>
            <a:r>
              <a:rPr dirty="0" err="1"/>
              <a:t>RDDam_HFDDam_MaleMRD_MaleMHFD_FemMRD_FemMHFD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t>QA plots: all_samples</a:t>
            </a:r>
          </a:p>
        </p:txBody>
      </p:sp>
      <p:pic>
        <p:nvPicPr>
          <p:cNvPr id="3" name="Content Placeholder 2"/>
          <p:cNvPicPr>
            <a:picLocks noGrp="1"/>
          </p:cNvPicPr>
          <p:nvPr>
            <p:ph/>
          </p:nvPr>
        </p:nvPicPr>
        <p:blipFill>
          <a:blip r:embed="rId2" cstate="print"/>
          <a:stretch>
            <a:fillRect/>
          </a:stretch>
        </p:blipFill>
        <p:spPr>
          <a:xfrm>
            <a:off x="457200" y="914400"/>
            <a:ext cx="45720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t>QA plots: AminoAcids</a:t>
            </a:r>
          </a:p>
        </p:txBody>
      </p:sp>
      <p:pic>
        <p:nvPicPr>
          <p:cNvPr id="3" name="Content Placeholder 2"/>
          <p:cNvPicPr>
            <a:picLocks noGrp="1"/>
          </p:cNvPicPr>
          <p:nvPr>
            <p:ph/>
          </p:nvPr>
        </p:nvPicPr>
        <p:blipFill>
          <a:blip r:embed="rId2" cstate="print"/>
          <a:stretch>
            <a:fillRect/>
          </a:stretch>
        </p:blipFill>
        <p:spPr>
          <a:xfrm>
            <a:off x="457200" y="914400"/>
            <a:ext cx="45720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t>Liver Control: AminoAcids</a:t>
            </a:r>
          </a:p>
        </p:txBody>
      </p:sp>
      <p:pic>
        <p:nvPicPr>
          <p:cNvPr id="3" name="Content Placeholder 2"/>
          <p:cNvPicPr>
            <a:picLocks noGrp="1"/>
          </p:cNvPicPr>
          <p:nvPr>
            <p:ph/>
          </p:nvPr>
        </p:nvPicPr>
        <p:blipFill>
          <a:blip r:embed="rId2" cstate="print"/>
          <a:stretch>
            <a:fillRect/>
          </a:stretch>
        </p:blipFill>
        <p:spPr>
          <a:xfrm>
            <a:off x="457200" y="914400"/>
            <a:ext cx="45720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t>Internal Standards Distribution: AminoAcids</a:t>
            </a:r>
          </a:p>
        </p:txBody>
      </p:sp>
      <p:pic>
        <p:nvPicPr>
          <p:cNvPr id="3" name="Content Placeholder 2"/>
          <p:cNvPicPr>
            <a:picLocks noGrp="1"/>
          </p:cNvPicPr>
          <p:nvPr>
            <p:ph/>
          </p:nvPr>
        </p:nvPicPr>
        <p:blipFill>
          <a:blip r:embed="rId2" cstate="print"/>
          <a:stretch>
            <a:fillRect/>
          </a:stretch>
        </p:blipFill>
        <p:spPr>
          <a:xfrm>
            <a:off x="457200" y="914400"/>
            <a:ext cx="45720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t>Comparison HFDDam_over_RDDam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t>Normalized PCA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t>Raw PCA</a:t>
            </a:r>
          </a:p>
        </p:txBody>
      </p:sp>
      <p:pic>
        <p:nvPicPr>
          <p:cNvPr id="5" name="Content Placeholder 4"/>
          <p:cNvPicPr>
            <a:picLocks noGrp="1"/>
          </p:cNvPicPr>
          <p:nvPr>
            <p:ph/>
          </p:nvPr>
        </p:nvPicPr>
        <p:blipFill>
          <a:blip r:embed="rId2" cstate="print"/>
          <a:stretch>
            <a:fillRect/>
          </a:stretch>
        </p:blipFill>
        <p:spPr>
          <a:xfrm>
            <a:off x="4645152" y="1426464"/>
            <a:ext cx="4114800" cy="3886200"/>
          </a:xfrm>
          <a:prstGeom prst="rect">
            <a:avLst/>
          </a:prstGeom>
        </p:spPr>
      </p:pic>
      <p:pic>
        <p:nvPicPr>
          <p:cNvPr id="6" name="Content Placeholder 5"/>
          <p:cNvPicPr>
            <a:picLocks noGrp="1"/>
          </p:cNvPicPr>
          <p:nvPr>
            <p:ph/>
          </p:nvPr>
        </p:nvPicPr>
        <p:blipFill>
          <a:blip r:embed="rId3" cstate="print"/>
          <a:stretch>
            <a:fillRect/>
          </a:stretch>
        </p:blipFill>
        <p:spPr>
          <a:xfrm>
            <a:off x="457200" y="1426464"/>
            <a:ext cx="4114800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t>Comparison MaleMHFD_over_MaleMRD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t>Normalized PCA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t>Raw PCA</a:t>
            </a:r>
          </a:p>
        </p:txBody>
      </p:sp>
      <p:pic>
        <p:nvPicPr>
          <p:cNvPr id="5" name="Content Placeholder 4"/>
          <p:cNvPicPr>
            <a:picLocks noGrp="1"/>
          </p:cNvPicPr>
          <p:nvPr>
            <p:ph/>
          </p:nvPr>
        </p:nvPicPr>
        <p:blipFill>
          <a:blip r:embed="rId2" cstate="print"/>
          <a:stretch>
            <a:fillRect/>
          </a:stretch>
        </p:blipFill>
        <p:spPr>
          <a:xfrm>
            <a:off x="4645152" y="1426464"/>
            <a:ext cx="4114800" cy="3886200"/>
          </a:xfrm>
          <a:prstGeom prst="rect">
            <a:avLst/>
          </a:prstGeom>
        </p:spPr>
      </p:pic>
      <p:pic>
        <p:nvPicPr>
          <p:cNvPr id="6" name="Content Placeholder 5"/>
          <p:cNvPicPr>
            <a:picLocks noGrp="1"/>
          </p:cNvPicPr>
          <p:nvPr>
            <p:ph/>
          </p:nvPr>
        </p:nvPicPr>
        <p:blipFill>
          <a:blip r:embed="rId3" cstate="print"/>
          <a:stretch>
            <a:fillRect/>
          </a:stretch>
        </p:blipFill>
        <p:spPr>
          <a:xfrm>
            <a:off x="457200" y="1426464"/>
            <a:ext cx="4114800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t>Comparison FemMHFD_over_FemMRD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t>Normalized PCA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t>Raw PCA</a:t>
            </a:r>
          </a:p>
        </p:txBody>
      </p:sp>
      <p:pic>
        <p:nvPicPr>
          <p:cNvPr id="5" name="Content Placeholder 4"/>
          <p:cNvPicPr>
            <a:picLocks noGrp="1"/>
          </p:cNvPicPr>
          <p:nvPr>
            <p:ph/>
          </p:nvPr>
        </p:nvPicPr>
        <p:blipFill>
          <a:blip r:embed="rId2" cstate="print"/>
          <a:stretch>
            <a:fillRect/>
          </a:stretch>
        </p:blipFill>
        <p:spPr>
          <a:xfrm>
            <a:off x="4645152" y="1426464"/>
            <a:ext cx="4114800" cy="3886200"/>
          </a:xfrm>
          <a:prstGeom prst="rect">
            <a:avLst/>
          </a:prstGeom>
        </p:spPr>
      </p:pic>
      <p:pic>
        <p:nvPicPr>
          <p:cNvPr id="6" name="Content Placeholder 5"/>
          <p:cNvPicPr>
            <a:picLocks noGrp="1"/>
          </p:cNvPicPr>
          <p:nvPr>
            <p:ph/>
          </p:nvPr>
        </p:nvPicPr>
        <p:blipFill>
          <a:blip r:embed="rId3" cstate="print"/>
          <a:stretch>
            <a:fillRect/>
          </a:stretch>
        </p:blipFill>
        <p:spPr>
          <a:xfrm>
            <a:off x="457200" y="1426464"/>
            <a:ext cx="4114800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t>Comparison RDDam_HFDDam_MaleMRD_MaleMHFD_FemMRD_FemMHFD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t>Normalized PCA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t>Raw PCA</a:t>
            </a:r>
          </a:p>
        </p:txBody>
      </p:sp>
      <p:pic>
        <p:nvPicPr>
          <p:cNvPr id="5" name="Content Placeholder 4"/>
          <p:cNvPicPr>
            <a:picLocks noGrp="1"/>
          </p:cNvPicPr>
          <p:nvPr>
            <p:ph/>
          </p:nvPr>
        </p:nvPicPr>
        <p:blipFill>
          <a:blip r:embed="rId2" cstate="print"/>
          <a:stretch>
            <a:fillRect/>
          </a:stretch>
        </p:blipFill>
        <p:spPr>
          <a:xfrm>
            <a:off x="4645152" y="1426464"/>
            <a:ext cx="4114800" cy="3886200"/>
          </a:xfrm>
          <a:prstGeom prst="rect">
            <a:avLst/>
          </a:prstGeom>
        </p:spPr>
      </p:pic>
      <p:pic>
        <p:nvPicPr>
          <p:cNvPr id="6" name="Content Placeholder 5"/>
          <p:cNvPicPr>
            <a:picLocks noGrp="1"/>
          </p:cNvPicPr>
          <p:nvPr>
            <p:ph/>
          </p:nvPr>
        </p:nvPicPr>
        <p:blipFill>
          <a:blip r:embed="rId3" cstate="print"/>
          <a:stretch>
            <a:fillRect/>
          </a:stretch>
        </p:blipFill>
        <p:spPr>
          <a:xfrm>
            <a:off x="457200" y="1426464"/>
            <a:ext cx="4114800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t>Comparison HFDDam_over_RDDam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t>Differential FDR&lt;0.25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t>Complete Set FDR=1</a:t>
            </a:r>
          </a:p>
        </p:txBody>
      </p:sp>
      <p:pic>
        <p:nvPicPr>
          <p:cNvPr id="5" name="Content Placeholder 4"/>
          <p:cNvPicPr>
            <a:picLocks noGrp="1"/>
          </p:cNvPicPr>
          <p:nvPr>
            <p:ph/>
          </p:nvPr>
        </p:nvPicPr>
        <p:blipFill>
          <a:blip r:embed="rId2" cstate="print"/>
          <a:stretch>
            <a:fillRect/>
          </a:stretch>
        </p:blipFill>
        <p:spPr>
          <a:xfrm>
            <a:off x="4645152" y="1426464"/>
            <a:ext cx="4114800" cy="5440680"/>
          </a:xfrm>
          <a:prstGeom prst="rect">
            <a:avLst/>
          </a:prstGeom>
        </p:spPr>
      </p:pic>
      <p:pic>
        <p:nvPicPr>
          <p:cNvPr id="6" name="Content Placeholder 5"/>
          <p:cNvPicPr>
            <a:picLocks noGrp="1"/>
          </p:cNvPicPr>
          <p:nvPr>
            <p:ph/>
          </p:nvPr>
        </p:nvPicPr>
        <p:blipFill>
          <a:blip r:embed="rId3" cstate="print"/>
          <a:stretch>
            <a:fillRect/>
          </a:stretch>
        </p:blipFill>
        <p:spPr>
          <a:xfrm>
            <a:off x="457200" y="1426464"/>
            <a:ext cx="4114800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t>Comparison MaleMHFD_over_MaleMRD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t>Differential FDR&lt;0.25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t>Complete Set FDR=1</a:t>
            </a:r>
          </a:p>
        </p:txBody>
      </p:sp>
      <p:pic>
        <p:nvPicPr>
          <p:cNvPr id="5" name="Content Placeholder 4"/>
          <p:cNvPicPr>
            <a:picLocks noGrp="1"/>
          </p:cNvPicPr>
          <p:nvPr>
            <p:ph/>
          </p:nvPr>
        </p:nvPicPr>
        <p:blipFill>
          <a:blip r:embed="rId2" cstate="print"/>
          <a:stretch>
            <a:fillRect/>
          </a:stretch>
        </p:blipFill>
        <p:spPr>
          <a:xfrm>
            <a:off x="4645152" y="1426464"/>
            <a:ext cx="4114800" cy="5440680"/>
          </a:xfrm>
          <a:prstGeom prst="rect">
            <a:avLst/>
          </a:prstGeom>
        </p:spPr>
      </p:pic>
      <p:pic>
        <p:nvPicPr>
          <p:cNvPr id="6" name="Content Placeholder 5"/>
          <p:cNvPicPr>
            <a:picLocks noGrp="1"/>
          </p:cNvPicPr>
          <p:nvPr>
            <p:ph/>
          </p:nvPr>
        </p:nvPicPr>
        <p:blipFill>
          <a:blip r:embed="rId3" cstate="print"/>
          <a:stretch>
            <a:fillRect/>
          </a:stretch>
        </p:blipFill>
        <p:spPr>
          <a:xfrm>
            <a:off x="457200" y="1426464"/>
            <a:ext cx="4114800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t>Comparison FemMHFD_over_FemMRD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t>Differential FDR&lt;0.25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t>Complete Set FDR=1</a:t>
            </a:r>
          </a:p>
        </p:txBody>
      </p:sp>
      <p:pic>
        <p:nvPicPr>
          <p:cNvPr id="5" name="Content Placeholder 4"/>
          <p:cNvPicPr>
            <a:picLocks noGrp="1"/>
          </p:cNvPicPr>
          <p:nvPr>
            <p:ph/>
          </p:nvPr>
        </p:nvPicPr>
        <p:blipFill>
          <a:blip r:embed="rId2" cstate="print"/>
          <a:stretch>
            <a:fillRect/>
          </a:stretch>
        </p:blipFill>
        <p:spPr>
          <a:xfrm>
            <a:off x="457200" y="1426464"/>
            <a:ext cx="4114800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t>Comparison RDDam_HFDDam_MaleMRD_MaleMHFD_FemMRD_FemMHFD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t>Differential FDR&lt;0.25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t>Complete Set FDR=1</a:t>
            </a:r>
          </a:p>
        </p:txBody>
      </p:sp>
      <p:pic>
        <p:nvPicPr>
          <p:cNvPr id="5" name="Content Placeholder 4"/>
          <p:cNvPicPr>
            <a:picLocks noGrp="1"/>
          </p:cNvPicPr>
          <p:nvPr>
            <p:ph/>
          </p:nvPr>
        </p:nvPicPr>
        <p:blipFill>
          <a:blip r:embed="rId2" cstate="print"/>
          <a:stretch>
            <a:fillRect/>
          </a:stretch>
        </p:blipFill>
        <p:spPr>
          <a:xfrm>
            <a:off x="4645152" y="1426464"/>
            <a:ext cx="4114800" cy="5440680"/>
          </a:xfrm>
          <a:prstGeom prst="rect">
            <a:avLst/>
          </a:prstGeom>
        </p:spPr>
      </p:pic>
      <p:pic>
        <p:nvPicPr>
          <p:cNvPr id="6" name="Content Placeholder 5"/>
          <p:cNvPicPr>
            <a:picLocks noGrp="1"/>
          </p:cNvPicPr>
          <p:nvPr>
            <p:ph/>
          </p:nvPr>
        </p:nvPicPr>
        <p:blipFill>
          <a:blip r:embed="rId3" cstate="print"/>
          <a:stretch>
            <a:fillRect/>
          </a:stretch>
        </p:blipFill>
        <p:spPr>
          <a:xfrm>
            <a:off x="457200" y="1426464"/>
            <a:ext cx="4114800" cy="54406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34409</TotalTime>
  <Words>197</Words>
  <Application>Microsoft Macintosh PowerPoint</Application>
  <PresentationFormat>On-screen Show (4:3)</PresentationFormat>
  <Paragraphs>43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Calibri</vt:lpstr>
      <vt:lpstr>Garamond</vt:lpstr>
      <vt:lpstr>Custom Design</vt:lpstr>
      <vt:lpstr>Project Report</vt:lpstr>
      <vt:lpstr>Project Overview</vt:lpstr>
      <vt:lpstr>QA plots: all_samples</vt:lpstr>
      <vt:lpstr>QA plots: AminoAcids</vt:lpstr>
      <vt:lpstr>Liver Control: AminoAcids</vt:lpstr>
      <vt:lpstr>Internal Standards Distribution: AminoAcids</vt:lpstr>
      <vt:lpstr>Comparison HFDDam_over_RDDam</vt:lpstr>
      <vt:lpstr>Comparison MaleMHFD_over_MaleMRD</vt:lpstr>
      <vt:lpstr>Comparison FemMHFD_over_FemMRD</vt:lpstr>
      <vt:lpstr>Comparison RDDam_HFDDam_MaleMRD_MaleMHFD_FemMRD_FemMHFD</vt:lpstr>
      <vt:lpstr>Comparison HFDDam_over_RDDam</vt:lpstr>
      <vt:lpstr>Comparison MaleMHFD_over_MaleMRD</vt:lpstr>
      <vt:lpstr>Comparison FemMHFD_over_FemMRD</vt:lpstr>
      <vt:lpstr>Comparison RDDam_HFDDam_MaleMRD_MaleMHFD_FemMRD_FemMHFD</vt:lpstr>
    </vt:vector>
  </TitlesOfParts>
  <Company>University of Houston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Badrajee Piyarathna</dc:creator>
  <cp:lastModifiedBy>Gandhi, Tanmay</cp:lastModifiedBy>
  <cp:revision>975</cp:revision>
  <cp:lastPrinted>2016-08-06T16:03:59Z</cp:lastPrinted>
  <dcterms:created xsi:type="dcterms:W3CDTF">2012-05-09T00:27:15Z</dcterms:created>
  <dcterms:modified xsi:type="dcterms:W3CDTF">2023-03-29T15:00:49Z</dcterms:modified>
</cp:coreProperties>
</file>