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5" r:id="rId4"/>
    <p:sldId id="265" r:id="rId5"/>
    <p:sldId id="263" r:id="rId6"/>
    <p:sldId id="264" r:id="rId7"/>
    <p:sldId id="267" r:id="rId8"/>
    <p:sldId id="266" r:id="rId9"/>
    <p:sldId id="268" r:id="rId10"/>
    <p:sldId id="269" r:id="rId11"/>
    <p:sldId id="270" r:id="rId12"/>
    <p:sldId id="271" r:id="rId13"/>
    <p:sldId id="272" r:id="rId14"/>
    <p:sldId id="273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6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31"/>
    <p:restoredTop sz="94658"/>
  </p:normalViewPr>
  <p:slideViewPr>
    <p:cSldViewPr snapToGrid="0">
      <p:cViewPr varScale="1">
        <p:scale>
          <a:sx n="108" d="100"/>
          <a:sy n="108" d="100"/>
        </p:scale>
        <p:origin x="208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7F85C-E9BE-A948-26FD-1A5EF87DA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D01615-BDB5-B761-6C02-60DF31207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006E2-C520-0177-D0B6-FDD9321AB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F04B1-CE9D-AC91-E289-FCDA780D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CC4BB-9E49-5BDA-4089-C6881FAA3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42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01863-5823-D05C-96E2-99EF282D4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6D117-32DB-09C8-B1D7-282DAC24C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1A0FE-6DEC-BADD-4EDA-B21986E4D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4CA57-CE62-4A50-E381-BA41E001A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2C0B6-69D8-C8C8-EBF2-302088CF3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89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64B1-2095-2E54-40E9-31BAA70CD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C2744-46A6-DCFD-2F23-64886779B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22632-A493-1BFD-C9A1-99BBB5C29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74420-BC1A-8930-6B68-6B19C8B76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30A66-807E-B15D-4E6B-239E358D2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820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8B6E9-243A-3930-F90D-B54F85F65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72346-5B8A-C25C-84ED-615217246B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A838A-C288-30A5-2938-F6D794EB1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29B95-D8C7-D22C-1593-AB7F7CCD4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84744-4112-1C99-A5AE-B55947A1B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EC995-5A05-F561-29C9-BD98B82A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22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39E55-33EC-E4C5-E120-F73FB2B8C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73464-C310-535E-1643-A49D1F27C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DDE2C-5E20-55CD-08F7-0ED1B5293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922060-DFEB-906C-98E4-3F37CAFF8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357492-E7A9-D326-E9A6-E5E38A0F6D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F4A56C-4756-405A-AB69-70D5C5E2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366717-2D46-BBF4-F95E-DB6DC0761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541D0E-C87F-4627-066D-F59E7C503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791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E0E0F-EA40-CC73-8873-BDA729089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A31E4-CBA8-DC2D-185C-B044D9F65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6D6C37-958C-7CF9-F78D-6E23C5CA7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91578-B350-D45A-84FA-F59B34FDE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3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0F3A92-6832-CC89-7D31-2A9A19A91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289BF9-C293-BF8F-4D8B-00BB55DAC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F3912-A8A4-72C8-B0EA-5CB967838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52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87515-94E4-0014-1DE4-28F96733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173AE-D437-5F46-C297-928B73D82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029C1-6CCE-9251-71E6-5DF5CFCCA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70DF94-9529-5A86-D137-E5F6B437E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180EE3-01F9-6B97-1BBD-B258530EE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4479A-048D-2935-4774-EDB5437F6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437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1C4BE-2907-60F2-0BE7-9BAA96B90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E359D4-E094-3819-7369-3B4D978655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35B20-933A-9804-4318-5732EEC2B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06698-351C-CCE0-278C-06A6A2FCC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0F71F-E2AD-E655-2325-D9F90621F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B9713-0F52-D1DA-203F-B87A277AF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194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790C0-43BD-1472-FF34-F74BB166D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14673-3E54-A05D-41EE-F3B85F46B9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167B7-2444-3F12-2022-B183CFFE3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9460F-CFE2-7A80-532E-E4A6B6DC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DB355-41B9-BBBF-FAEE-DB5010521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27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220D9A-9453-F8B4-56D3-AAACFEBF2E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E344BA-06A9-408C-9B3C-1DB8CD847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D5526-5B29-5855-0574-5FC2C6510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2CF8-5571-2F43-B531-95039EEE283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50BD6-C5BE-82EB-6ABC-4D633B376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030A3-5DC2-D324-06EE-D43DA90FC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936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079BB6-2A61-134D-951C-DDEFA02B5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07E63-0B8A-F47E-0FF4-52BF40E65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6FC05-7295-64A7-22AA-FCC49B365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12CF8-5571-2F43-B531-95039EEE283D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8546C-E520-8242-CE99-CCC60AB65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11CDD-3AC5-DAAF-7FE7-1AC89865B1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9C544-859E-1F43-8159-ECCCDD06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299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EE54F-102E-825C-5BDB-C93C523DE3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</a:t>
            </a:r>
            <a:r>
              <a:rPr lang="en-US" dirty="0" err="1"/>
              <a:t>runMODAC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BCFEA-E060-92C3-6464-A70013F1ED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37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F6C65-586B-5F89-7660-E9951CD60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Open </a:t>
            </a:r>
            <a:r>
              <a:rPr lang="en-US" dirty="0" err="1"/>
              <a:t>runModac.Rproj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Install </a:t>
            </a:r>
            <a:r>
              <a:rPr lang="en-US" dirty="0" err="1"/>
              <a:t>ComplexHeatmap</a:t>
            </a:r>
            <a:r>
              <a:rPr lang="en-US" dirty="0"/>
              <a:t> using the following code:</a:t>
            </a:r>
          </a:p>
          <a:p>
            <a:pPr marL="457200" lvl="1" indent="0">
              <a:buNone/>
            </a:pPr>
            <a:r>
              <a:rPr lang="en-US" dirty="0">
                <a:highlight>
                  <a:srgbClr val="FFFF00"/>
                </a:highlight>
              </a:rPr>
              <a:t>if (!</a:t>
            </a:r>
            <a:r>
              <a:rPr lang="en-US" dirty="0" err="1">
                <a:highlight>
                  <a:srgbClr val="FFFF00"/>
                </a:highlight>
              </a:rPr>
              <a:t>requireNamespace</a:t>
            </a:r>
            <a:r>
              <a:rPr lang="en-US" dirty="0">
                <a:highlight>
                  <a:srgbClr val="FFFF00"/>
                </a:highlight>
              </a:rPr>
              <a:t>("</a:t>
            </a:r>
            <a:r>
              <a:rPr lang="en-US" dirty="0" err="1">
                <a:highlight>
                  <a:srgbClr val="FFFF00"/>
                </a:highlight>
              </a:rPr>
              <a:t>BiocManager</a:t>
            </a:r>
            <a:r>
              <a:rPr lang="en-US" dirty="0">
                <a:highlight>
                  <a:srgbClr val="FFFF00"/>
                </a:highlight>
              </a:rPr>
              <a:t>", quietly = TRUE)) </a:t>
            </a:r>
            <a:r>
              <a:rPr lang="en-US" dirty="0" err="1">
                <a:highlight>
                  <a:srgbClr val="FFFF00"/>
                </a:highlight>
              </a:rPr>
              <a:t>install.packages</a:t>
            </a:r>
            <a:r>
              <a:rPr lang="en-US" dirty="0">
                <a:highlight>
                  <a:srgbClr val="FFFF00"/>
                </a:highlight>
              </a:rPr>
              <a:t>("</a:t>
            </a:r>
            <a:r>
              <a:rPr lang="en-US" dirty="0" err="1">
                <a:highlight>
                  <a:srgbClr val="FFFF00"/>
                </a:highlight>
              </a:rPr>
              <a:t>BiocManager</a:t>
            </a:r>
            <a:r>
              <a:rPr lang="en-US" dirty="0">
                <a:highlight>
                  <a:srgbClr val="FFFF00"/>
                </a:highlight>
              </a:rPr>
              <a:t>")</a:t>
            </a:r>
          </a:p>
          <a:p>
            <a:pPr marL="457200" lvl="1" indent="0">
              <a:buNone/>
            </a:pPr>
            <a:r>
              <a:rPr lang="en-US" dirty="0" err="1">
                <a:highlight>
                  <a:srgbClr val="FFFF00"/>
                </a:highlight>
              </a:rPr>
              <a:t>BiocManager</a:t>
            </a:r>
            <a:r>
              <a:rPr lang="en-US" dirty="0">
                <a:highlight>
                  <a:srgbClr val="FFFF00"/>
                </a:highlight>
              </a:rPr>
              <a:t>::install(c("</a:t>
            </a:r>
            <a:r>
              <a:rPr lang="en-US" dirty="0" err="1">
                <a:highlight>
                  <a:srgbClr val="FFFF00"/>
                </a:highlight>
              </a:rPr>
              <a:t>ComplexHeatmap</a:t>
            </a:r>
            <a:r>
              <a:rPr lang="en-US" dirty="0">
                <a:highlight>
                  <a:srgbClr val="FFFF00"/>
                </a:highlight>
              </a:rPr>
              <a:t>"))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Source the “R/</a:t>
            </a:r>
            <a:r>
              <a:rPr lang="en-US" dirty="0" err="1"/>
              <a:t>runModac.R</a:t>
            </a:r>
            <a:r>
              <a:rPr lang="en-US" dirty="0"/>
              <a:t>” file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Set up and run the </a:t>
            </a:r>
            <a:r>
              <a:rPr lang="en-US" dirty="0" err="1"/>
              <a:t>runModac</a:t>
            </a:r>
            <a:r>
              <a:rPr lang="en-US" dirty="0"/>
              <a:t> function for </a:t>
            </a:r>
            <a:r>
              <a:rPr lang="en-US"/>
              <a:t>your analysis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698327C-A5D0-FC32-FF96-831F06359282}"/>
              </a:ext>
            </a:extLst>
          </p:cNvPr>
          <p:cNvSpPr txBox="1">
            <a:spLocks/>
          </p:cNvSpPr>
          <p:nvPr/>
        </p:nvSpPr>
        <p:spPr>
          <a:xfrm>
            <a:off x="838200" y="5896"/>
            <a:ext cx="10515600" cy="962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Prep</a:t>
            </a:r>
          </a:p>
        </p:txBody>
      </p:sp>
    </p:spTree>
    <p:extLst>
      <p:ext uri="{BB962C8B-B14F-4D97-AF65-F5344CB8AC3E}">
        <p14:creationId xmlns:p14="http://schemas.microsoft.com/office/powerpoint/2010/main" val="280002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F6C65-586B-5F89-7660-E9951CD60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runModac</a:t>
            </a:r>
            <a:r>
              <a:rPr lang="en-US" dirty="0"/>
              <a:t>(</a:t>
            </a:r>
            <a:r>
              <a:rPr lang="en-US" dirty="0" err="1"/>
              <a:t>inputFile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comparisonsFile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		type = “metabolomics”,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outdir</a:t>
            </a:r>
            <a:r>
              <a:rPr lang="en-US" dirty="0"/>
              <a:t> = “results”,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project_title</a:t>
            </a:r>
            <a:r>
              <a:rPr lang="en-US" dirty="0"/>
              <a:t> = "Project Report",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project_subtitle</a:t>
            </a:r>
            <a:r>
              <a:rPr lang="en-US" dirty="0"/>
              <a:t> = "Metabolomics Analysis",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heatmap_color_scale</a:t>
            </a:r>
            <a:r>
              <a:rPr lang="en-US" dirty="0"/>
              <a:t> = c("blue", "black", "yellow"),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samplesAreRows</a:t>
            </a:r>
            <a:r>
              <a:rPr lang="en-US" dirty="0"/>
              <a:t> = T,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sampleIDRow</a:t>
            </a:r>
            <a:r>
              <a:rPr lang="en-US" dirty="0"/>
              <a:t> = 2,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min_signal</a:t>
            </a:r>
            <a:r>
              <a:rPr lang="en-US" dirty="0"/>
              <a:t> = NULL,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scriptPath</a:t>
            </a:r>
            <a:r>
              <a:rPr lang="en-US" dirty="0"/>
              <a:t> = "~/Box Sync/</a:t>
            </a:r>
            <a:r>
              <a:rPr lang="en-US" dirty="0" err="1"/>
              <a:t>runModac</a:t>
            </a:r>
            <a:r>
              <a:rPr lang="en-US" dirty="0"/>
              <a:t>/R/")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698327C-A5D0-FC32-FF96-831F06359282}"/>
              </a:ext>
            </a:extLst>
          </p:cNvPr>
          <p:cNvSpPr txBox="1">
            <a:spLocks/>
          </p:cNvSpPr>
          <p:nvPr/>
        </p:nvSpPr>
        <p:spPr>
          <a:xfrm>
            <a:off x="838200" y="5896"/>
            <a:ext cx="10515600" cy="962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Usage</a:t>
            </a:r>
          </a:p>
        </p:txBody>
      </p:sp>
    </p:spTree>
    <p:extLst>
      <p:ext uri="{BB962C8B-B14F-4D97-AF65-F5344CB8AC3E}">
        <p14:creationId xmlns:p14="http://schemas.microsoft.com/office/powerpoint/2010/main" val="1864459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EA82-6506-DFFE-6495-214648803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Metabolomics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07DBF-B79C-7DA2-07B5-64166409B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3869329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Input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37E587-1DA1-696F-5BA7-46F4417FA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6563"/>
            <a:ext cx="7021286" cy="49448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10777D-6F39-622B-2D04-39C9328E38AB}"/>
              </a:ext>
            </a:extLst>
          </p:cNvPr>
          <p:cNvSpPr txBox="1"/>
          <p:nvPr/>
        </p:nvSpPr>
        <p:spPr>
          <a:xfrm>
            <a:off x="7021286" y="2413334"/>
            <a:ext cx="51707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Rows of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column contains sample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Remaining columns are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QC samples at the 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ISTD columns at the 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Any NAs or blank cells will be replaced by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ISTD normalization, only positive numbers</a:t>
            </a:r>
          </a:p>
        </p:txBody>
      </p:sp>
    </p:spTree>
    <p:extLst>
      <p:ext uri="{BB962C8B-B14F-4D97-AF65-F5344CB8AC3E}">
        <p14:creationId xmlns:p14="http://schemas.microsoft.com/office/powerpoint/2010/main" val="1095557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Comparisons File – Settings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10777D-6F39-622B-2D04-39C9328E38AB}"/>
              </a:ext>
            </a:extLst>
          </p:cNvPr>
          <p:cNvSpPr txBox="1"/>
          <p:nvPr/>
        </p:nvSpPr>
        <p:spPr>
          <a:xfrm>
            <a:off x="5564910" y="968829"/>
            <a:ext cx="6627089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padj_method</a:t>
            </a:r>
            <a:r>
              <a:rPr lang="en-US" sz="1600" dirty="0"/>
              <a:t>: “</a:t>
            </a:r>
            <a:r>
              <a:rPr lang="en-US" sz="1600" dirty="0" err="1"/>
              <a:t>pval</a:t>
            </a:r>
            <a:r>
              <a:rPr lang="en-US" sz="1600" dirty="0"/>
              <a:t>” or “</a:t>
            </a:r>
            <a:r>
              <a:rPr lang="en-US" sz="1600" dirty="0" err="1"/>
              <a:t>fdr</a:t>
            </a:r>
            <a:r>
              <a:rPr lang="en-US" sz="1600" dirty="0"/>
              <a:t>”. Use p-value or FDR for generating filtered heatmaps and signature files?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padj_cutoff</a:t>
            </a:r>
            <a:r>
              <a:rPr lang="en-US" sz="1600" dirty="0"/>
              <a:t>: p-value or FDR threshold for generating filtered heatmaps and signature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compute_log2fc</a:t>
            </a:r>
            <a:r>
              <a:rPr lang="en-US" sz="1600" dirty="0"/>
              <a:t>: TRUE or FALSE. Calculate log2 and linear fold change or only linear fold change?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linear_fc_cutoff</a:t>
            </a:r>
            <a:r>
              <a:rPr lang="en-US" sz="1600" dirty="0"/>
              <a:t>: Fold change threshold for generating signature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QC_row</a:t>
            </a:r>
            <a:r>
              <a:rPr lang="en-US" sz="1600" dirty="0"/>
              <a:t>: row index for the first QC sample.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cv_cutoff_internal_standard</a:t>
            </a:r>
            <a:r>
              <a:rPr lang="en-US" sz="1600" dirty="0"/>
              <a:t>: Coefficient of variation (CV) threshold for internal standard (ISTD). Only ISTDs with CV lower than this threshold will be considered for normalization.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normalization</a:t>
            </a:r>
            <a:r>
              <a:rPr lang="en-US" sz="1600" dirty="0"/>
              <a:t>: “</a:t>
            </a:r>
            <a:r>
              <a:rPr lang="en-US" sz="1600" dirty="0" err="1"/>
              <a:t>istd</a:t>
            </a:r>
            <a:r>
              <a:rPr lang="en-US" sz="1600" dirty="0"/>
              <a:t>”, “</a:t>
            </a:r>
            <a:r>
              <a:rPr lang="en-US" sz="1600" dirty="0" err="1"/>
              <a:t>iqr</a:t>
            </a:r>
            <a:r>
              <a:rPr lang="en-US" sz="1600" dirty="0"/>
              <a:t>”, or “none”. Type of normalization to be performed – internal standard, interquartile range, or none?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input_data_space</a:t>
            </a:r>
            <a:r>
              <a:rPr lang="en-US" sz="1600" dirty="0"/>
              <a:t>: “linear” or “log2”. Input data is in linear space or log2 space?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differential_analysis_space</a:t>
            </a:r>
            <a:r>
              <a:rPr lang="en-US" sz="1600" dirty="0"/>
              <a:t>: “linear” or “log2”. For differential analysis, transform the data to linear or log2 space?</a:t>
            </a: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tab</a:t>
            </a:r>
            <a:r>
              <a:rPr lang="en-US" sz="1600" dirty="0"/>
              <a:t>: For ISTD normalization, write down names of all the methods below this. For any other normalization, leave blank.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ISTD_column</a:t>
            </a:r>
            <a:r>
              <a:rPr lang="en-US" sz="1600" dirty="0"/>
              <a:t>: For ISTD normalization, write down index of the first (or only) internal standard methods below this for all the methods. For any other normalization, leave blank.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u="sn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833922-81E0-E2FA-97E9-0CAECF316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0478"/>
            <a:ext cx="5514095" cy="585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08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Comparisons File - Comparisons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80C858-F3A7-9AD6-85CD-FBFFDA310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253" y="974725"/>
            <a:ext cx="3000865" cy="58832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8B9C20-FB97-BA6A-E4A6-FD3F463E2F8C}"/>
              </a:ext>
            </a:extLst>
          </p:cNvPr>
          <p:cNvSpPr txBox="1"/>
          <p:nvPr/>
        </p:nvSpPr>
        <p:spPr>
          <a:xfrm>
            <a:off x="5889171" y="968829"/>
            <a:ext cx="57476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comparison_name</a:t>
            </a:r>
            <a:r>
              <a:rPr lang="en-US" dirty="0"/>
              <a:t>: Sets comparison direction. Format must be “</a:t>
            </a:r>
            <a:r>
              <a:rPr lang="en-US" dirty="0" err="1"/>
              <a:t>testgroup_over_controlgroup</a:t>
            </a:r>
            <a:r>
              <a:rPr lang="en-US" dirty="0"/>
              <a:t>” for t-test and “group1_group2_..._</a:t>
            </a:r>
            <a:r>
              <a:rPr lang="en-US" dirty="0" err="1"/>
              <a:t>groupn</a:t>
            </a:r>
            <a:r>
              <a:rPr lang="en-US" dirty="0"/>
              <a:t>” for ANOVA.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test</a:t>
            </a:r>
            <a:r>
              <a:rPr lang="en-US" dirty="0"/>
              <a:t>: ”t-test” or “</a:t>
            </a:r>
            <a:r>
              <a:rPr lang="en-US" dirty="0" err="1"/>
              <a:t>anova</a:t>
            </a:r>
            <a:r>
              <a:rPr lang="en-US" dirty="0"/>
              <a:t>”. Which statistical test to perform?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group_order_ctrl_test</a:t>
            </a:r>
            <a:r>
              <a:rPr lang="en-US" dirty="0"/>
              <a:t>: order in which to display the comparison groups in boxplots and heatmaps.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group</a:t>
            </a:r>
            <a:r>
              <a:rPr lang="en-US" dirty="0"/>
              <a:t>: group that each sample belongs to. This can have all the groups or only groups specific to this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sample</a:t>
            </a:r>
            <a:r>
              <a:rPr lang="en-US" dirty="0"/>
              <a:t>: sample ID for all the samples or only samples belonging to the groups specific to this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Repeat this process creating a new sheet for all comparisons.</a:t>
            </a:r>
          </a:p>
        </p:txBody>
      </p:sp>
    </p:spTree>
    <p:extLst>
      <p:ext uri="{BB962C8B-B14F-4D97-AF65-F5344CB8AC3E}">
        <p14:creationId xmlns:p14="http://schemas.microsoft.com/office/powerpoint/2010/main" val="232917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EFA073-845D-D2CF-05DF-DA57417BF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4907"/>
            <a:ext cx="5657852" cy="20259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A41D65-FF17-6810-78AA-EEC0F79FA711}"/>
              </a:ext>
            </a:extLst>
          </p:cNvPr>
          <p:cNvSpPr txBox="1"/>
          <p:nvPr/>
        </p:nvSpPr>
        <p:spPr>
          <a:xfrm>
            <a:off x="5660020" y="968829"/>
            <a:ext cx="653198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inputFile</a:t>
            </a:r>
            <a:r>
              <a:rPr lang="en-US" dirty="0"/>
              <a:t>: path to the input file.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comparisonsFile</a:t>
            </a:r>
            <a:r>
              <a:rPr lang="en-US" dirty="0"/>
              <a:t>: path to the comparisons file.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type</a:t>
            </a:r>
            <a:r>
              <a:rPr lang="en-US" dirty="0"/>
              <a:t>: “metabolomics”, “</a:t>
            </a:r>
            <a:r>
              <a:rPr lang="en-US" dirty="0" err="1"/>
              <a:t>rppa</a:t>
            </a:r>
            <a:r>
              <a:rPr lang="en-US" dirty="0"/>
              <a:t>”, or “none”. Use “none” for </a:t>
            </a:r>
            <a:r>
              <a:rPr lang="en-US" dirty="0" err="1"/>
              <a:t>prenormalized</a:t>
            </a:r>
            <a:r>
              <a:rPr lang="en-US" dirty="0"/>
              <a:t> data.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outdir</a:t>
            </a:r>
            <a:r>
              <a:rPr lang="en-US" dirty="0"/>
              <a:t>: path to output directory. Default is “results” folder in current directory.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project_title</a:t>
            </a:r>
            <a:r>
              <a:rPr lang="en-US" dirty="0"/>
              <a:t>: project title to be used in the summary pptx. Default is “Report”.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project_subtitle</a:t>
            </a:r>
            <a:r>
              <a:rPr lang="en-US" dirty="0"/>
              <a:t>: project subtitle to be used in the summary pptx. Default is “by”.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heatmap_color_scale</a:t>
            </a:r>
            <a:r>
              <a:rPr lang="en-US" b="1" dirty="0"/>
              <a:t>: </a:t>
            </a:r>
            <a:r>
              <a:rPr lang="en-US" dirty="0"/>
              <a:t>specify 3 colors to use for heatmap color scale. Default is c("blue", "black", "yellow").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samplesAreRows</a:t>
            </a:r>
            <a:r>
              <a:rPr lang="en-US" b="1" dirty="0"/>
              <a:t>: </a:t>
            </a:r>
            <a:r>
              <a:rPr lang="en-US" dirty="0"/>
              <a:t>TRUE or FALSE. Is the input data in the form of rows of samples? Default is TRUE.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sampleIDRow</a:t>
            </a:r>
            <a:r>
              <a:rPr lang="en-US" b="1" dirty="0"/>
              <a:t>: </a:t>
            </a:r>
            <a:r>
              <a:rPr lang="en-US" dirty="0"/>
              <a:t>1 or 2.</a:t>
            </a:r>
            <a:r>
              <a:rPr lang="en-US" b="1" dirty="0"/>
              <a:t> </a:t>
            </a:r>
            <a:r>
              <a:rPr lang="en-US" dirty="0"/>
              <a:t>Only for RPPA analysis. Which row of the normalized RPPA data are the Sample IDs present in? Default is 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min_signal</a:t>
            </a:r>
            <a:r>
              <a:rPr lang="en-US" b="1" dirty="0"/>
              <a:t>: </a:t>
            </a:r>
            <a:r>
              <a:rPr lang="en-US" dirty="0"/>
              <a:t>for each comparison, filtering out features for which none of the samples have signal &gt; </a:t>
            </a:r>
            <a:r>
              <a:rPr lang="en-US" dirty="0" err="1"/>
              <a:t>min_signal</a:t>
            </a:r>
            <a:r>
              <a:rPr lang="en-US" dirty="0"/>
              <a:t>. Setting to NULL turns this filter off. Default is NULL.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scriptPath</a:t>
            </a:r>
            <a:r>
              <a:rPr lang="en-US" dirty="0"/>
              <a:t>: path to R folder within the </a:t>
            </a:r>
            <a:r>
              <a:rPr lang="en-US" dirty="0" err="1"/>
              <a:t>runMODAC</a:t>
            </a:r>
            <a:r>
              <a:rPr lang="en-US" dirty="0"/>
              <a:t> folder on your system.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04188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5883A-5E59-3E22-F4B3-09651AA388E1}"/>
              </a:ext>
            </a:extLst>
          </p:cNvPr>
          <p:cNvSpPr txBox="1"/>
          <p:nvPr/>
        </p:nvSpPr>
        <p:spPr>
          <a:xfrm>
            <a:off x="3668486" y="1720840"/>
            <a:ext cx="85235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heatmaps</a:t>
            </a:r>
            <a:r>
              <a:rPr lang="en-US" dirty="0"/>
              <a:t>: folder containing heatmaps in .jpg and .pdf format with supporting data used to generate the heatmap available in a .csv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pca</a:t>
            </a:r>
            <a:r>
              <a:rPr lang="en-US" dirty="0"/>
              <a:t>: folder containing </a:t>
            </a:r>
            <a:r>
              <a:rPr lang="en-US" dirty="0" err="1"/>
              <a:t>pca</a:t>
            </a:r>
            <a:r>
              <a:rPr lang="en-US" dirty="0"/>
              <a:t> plots in .jpg and .pdf format with supporting data used to generate the </a:t>
            </a:r>
            <a:r>
              <a:rPr lang="en-US" dirty="0" err="1"/>
              <a:t>pca</a:t>
            </a:r>
            <a:r>
              <a:rPr lang="en-US" dirty="0"/>
              <a:t> plots available in a .xlsx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QA_plots</a:t>
            </a:r>
            <a:r>
              <a:rPr lang="en-US" dirty="0"/>
              <a:t>: folder containing boxplots of the combined normalized data and normalized data per method as well as internal standard distribution and QC samples distribution plot per method.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report</a:t>
            </a:r>
            <a:r>
              <a:rPr lang="en-US" dirty="0"/>
              <a:t>: folder containing raw combined data, normalized data, and for each comparison, boxplots of all features and statistical test report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report.pptx</a:t>
            </a:r>
            <a:r>
              <a:rPr lang="en-US" dirty="0"/>
              <a:t>: presentation containing a summary of the results.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Rnk</a:t>
            </a:r>
            <a:r>
              <a:rPr lang="en-US" dirty="0"/>
              <a:t>: folder containing the rank files for each comparison.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sessionInfo.txt</a:t>
            </a:r>
            <a:r>
              <a:rPr lang="en-US" b="1" dirty="0"/>
              <a:t>: </a:t>
            </a:r>
            <a:r>
              <a:rPr lang="en-US" dirty="0"/>
              <a:t>text file containing your R session information.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Signature</a:t>
            </a:r>
            <a:r>
              <a:rPr lang="en-US" dirty="0"/>
              <a:t>: folder containing the signature files for each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volcano_plots</a:t>
            </a:r>
            <a:r>
              <a:rPr lang="en-US" b="1" dirty="0"/>
              <a:t>: </a:t>
            </a:r>
            <a:r>
              <a:rPr lang="en-US" dirty="0"/>
              <a:t>folder containing volcano plots for each t-test comparison in .jpg and .pdf format.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23E7C6-CFF0-B739-2E6E-6AF780202D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416"/>
          <a:stretch/>
        </p:blipFill>
        <p:spPr>
          <a:xfrm>
            <a:off x="0" y="1616371"/>
            <a:ext cx="3665008" cy="445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711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EA82-6506-DFFE-6495-214648803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Pre-Normalized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07DBF-B79C-7DA2-07B5-64166409B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3446154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Input File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10777D-6F39-622B-2D04-39C9328E38AB}"/>
              </a:ext>
            </a:extLst>
          </p:cNvPr>
          <p:cNvSpPr txBox="1"/>
          <p:nvPr/>
        </p:nvSpPr>
        <p:spPr>
          <a:xfrm>
            <a:off x="7021286" y="2413334"/>
            <a:ext cx="51707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Rows of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column contains sample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Remaining columns are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NAs or blank cells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4122A69-44E0-F868-C15A-136EFCFEEA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6657" y="976285"/>
            <a:ext cx="3722914" cy="5881715"/>
          </a:xfrm>
        </p:spPr>
      </p:pic>
    </p:spTree>
    <p:extLst>
      <p:ext uri="{BB962C8B-B14F-4D97-AF65-F5344CB8AC3E}">
        <p14:creationId xmlns:p14="http://schemas.microsoft.com/office/powerpoint/2010/main" val="1175950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Comparisons File – Settings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1B2966-A8FF-7D67-943D-6F0860479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8829"/>
            <a:ext cx="5564911" cy="55009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689E04-D282-3827-501B-D45D995F777B}"/>
              </a:ext>
            </a:extLst>
          </p:cNvPr>
          <p:cNvSpPr txBox="1"/>
          <p:nvPr/>
        </p:nvSpPr>
        <p:spPr>
          <a:xfrm>
            <a:off x="5564911" y="1006839"/>
            <a:ext cx="662708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padj_method</a:t>
            </a:r>
            <a:r>
              <a:rPr lang="en-US" sz="1600" dirty="0"/>
              <a:t>: “</a:t>
            </a:r>
            <a:r>
              <a:rPr lang="en-US" sz="1600" dirty="0" err="1"/>
              <a:t>pval</a:t>
            </a:r>
            <a:r>
              <a:rPr lang="en-US" sz="1600" dirty="0"/>
              <a:t>” or “</a:t>
            </a:r>
            <a:r>
              <a:rPr lang="en-US" sz="1600" dirty="0" err="1"/>
              <a:t>fdr</a:t>
            </a:r>
            <a:r>
              <a:rPr lang="en-US" sz="1600" dirty="0"/>
              <a:t>”. Use p-value or FDR for generating filtered heatmaps and signature files?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padj_cutoff</a:t>
            </a:r>
            <a:r>
              <a:rPr lang="en-US" sz="1600" dirty="0"/>
              <a:t>: p-value or FDR threshold for generating filtered heatmaps and signature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compute_log2fc</a:t>
            </a:r>
            <a:r>
              <a:rPr lang="en-US" sz="1600" dirty="0"/>
              <a:t>: TRUE or FALSE. Calculate log2 and linear fold change or only linear fold change?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linear_fc_cutoff</a:t>
            </a:r>
            <a:r>
              <a:rPr lang="en-US" sz="1600" dirty="0"/>
              <a:t>: Fold change threshold for generating signature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QC_row</a:t>
            </a:r>
            <a:r>
              <a:rPr lang="en-US" sz="1600" dirty="0"/>
              <a:t>: row index for the first QC sample.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cv_cutoff_internal_standard</a:t>
            </a:r>
            <a:r>
              <a:rPr lang="en-US" sz="1600" dirty="0"/>
              <a:t>: Coefficient of variation (CV) threshold for internal standard (ISTD). Only ISTDs with CV lower than this threshold will be considered for normalization.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normalization</a:t>
            </a:r>
            <a:r>
              <a:rPr lang="en-US" sz="1600" dirty="0"/>
              <a:t>: “</a:t>
            </a:r>
            <a:r>
              <a:rPr lang="en-US" sz="1600" dirty="0" err="1"/>
              <a:t>istd</a:t>
            </a:r>
            <a:r>
              <a:rPr lang="en-US" sz="1600" dirty="0"/>
              <a:t>”, “</a:t>
            </a:r>
            <a:r>
              <a:rPr lang="en-US" sz="1600" dirty="0" err="1"/>
              <a:t>iqr</a:t>
            </a:r>
            <a:r>
              <a:rPr lang="en-US" sz="1600" dirty="0"/>
              <a:t>”, or “none”. Type of normalization to be performed – internal standard, interquartile range, or none?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input_data_space</a:t>
            </a:r>
            <a:r>
              <a:rPr lang="en-US" sz="1600" dirty="0"/>
              <a:t>: “linear” or “log2”. Input data is in linear space or log2 space?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differential_analysis_space</a:t>
            </a:r>
            <a:r>
              <a:rPr lang="en-US" sz="1600" dirty="0"/>
              <a:t>: “linear” or “log2”. For differential analysis, transform the data to linear or log2 space?</a:t>
            </a: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tab</a:t>
            </a:r>
            <a:r>
              <a:rPr lang="en-US" sz="1600" dirty="0"/>
              <a:t>: For ISTD normalization, write down names of all the methods below this. For any other normalization, leave blank.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ISTD_column</a:t>
            </a:r>
            <a:r>
              <a:rPr lang="en-US" sz="1600" dirty="0"/>
              <a:t>: For ISTD normalization, write down index of the first (or only) internal standard methods below this for all the methods. For any other normalization, leave blank.</a:t>
            </a:r>
          </a:p>
        </p:txBody>
      </p:sp>
    </p:spTree>
    <p:extLst>
      <p:ext uri="{BB962C8B-B14F-4D97-AF65-F5344CB8AC3E}">
        <p14:creationId xmlns:p14="http://schemas.microsoft.com/office/powerpoint/2010/main" val="2522855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Comparisons File - Comparisons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80C858-F3A7-9AD6-85CD-FBFFDA310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253" y="974725"/>
            <a:ext cx="3000865" cy="58832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8B9C20-FB97-BA6A-E4A6-FD3F463E2F8C}"/>
              </a:ext>
            </a:extLst>
          </p:cNvPr>
          <p:cNvSpPr txBox="1"/>
          <p:nvPr/>
        </p:nvSpPr>
        <p:spPr>
          <a:xfrm>
            <a:off x="5889171" y="968829"/>
            <a:ext cx="57476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comparison_name</a:t>
            </a:r>
            <a:r>
              <a:rPr lang="en-US" dirty="0"/>
              <a:t>: Sets comparison direction. Format must be “</a:t>
            </a:r>
            <a:r>
              <a:rPr lang="en-US" dirty="0" err="1"/>
              <a:t>testgroup_over_controlgroup</a:t>
            </a:r>
            <a:r>
              <a:rPr lang="en-US" dirty="0"/>
              <a:t>” for t-test and “group1_group2_..._</a:t>
            </a:r>
            <a:r>
              <a:rPr lang="en-US" dirty="0" err="1"/>
              <a:t>groupn</a:t>
            </a:r>
            <a:r>
              <a:rPr lang="en-US" dirty="0"/>
              <a:t>” for ANOVA.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test</a:t>
            </a:r>
            <a:r>
              <a:rPr lang="en-US" dirty="0"/>
              <a:t>: ”t-test” or “</a:t>
            </a:r>
            <a:r>
              <a:rPr lang="en-US" dirty="0" err="1"/>
              <a:t>anova</a:t>
            </a:r>
            <a:r>
              <a:rPr lang="en-US" dirty="0"/>
              <a:t>”. Which statistical test to perform?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group_order_ctrl_test</a:t>
            </a:r>
            <a:r>
              <a:rPr lang="en-US" dirty="0"/>
              <a:t>: order in which to display the comparison groups in boxplots and heatmaps.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group</a:t>
            </a:r>
            <a:r>
              <a:rPr lang="en-US" dirty="0"/>
              <a:t>: group that each sample belongs to. This can have all the groups or only groups specific to this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sample</a:t>
            </a:r>
            <a:r>
              <a:rPr lang="en-US" dirty="0"/>
              <a:t>: sample ID for all the samples or only samples belonging to the groups specific to this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Repeat this process creating a new sheet for all comparisons.</a:t>
            </a:r>
          </a:p>
        </p:txBody>
      </p:sp>
    </p:spTree>
    <p:extLst>
      <p:ext uri="{BB962C8B-B14F-4D97-AF65-F5344CB8AC3E}">
        <p14:creationId xmlns:p14="http://schemas.microsoft.com/office/powerpoint/2010/main" val="573133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23EB16-4C05-8B3C-FA8E-A1E7710CE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6003"/>
            <a:ext cx="5656819" cy="21659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B61920-7830-287A-537D-F1AA33D33BBD}"/>
              </a:ext>
            </a:extLst>
          </p:cNvPr>
          <p:cNvSpPr txBox="1"/>
          <p:nvPr/>
        </p:nvSpPr>
        <p:spPr>
          <a:xfrm>
            <a:off x="5660020" y="968829"/>
            <a:ext cx="653198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inputFile</a:t>
            </a:r>
            <a:r>
              <a:rPr lang="en-US" dirty="0"/>
              <a:t>: path to the input file.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comparisonsFile</a:t>
            </a:r>
            <a:r>
              <a:rPr lang="en-US" dirty="0"/>
              <a:t>: path to the comparisons file.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type</a:t>
            </a:r>
            <a:r>
              <a:rPr lang="en-US" dirty="0"/>
              <a:t>: “metabolomics”, “</a:t>
            </a:r>
            <a:r>
              <a:rPr lang="en-US" dirty="0" err="1"/>
              <a:t>rppa</a:t>
            </a:r>
            <a:r>
              <a:rPr lang="en-US" dirty="0"/>
              <a:t>”, or “none”. Use “none” for </a:t>
            </a:r>
            <a:r>
              <a:rPr lang="en-US" dirty="0" err="1"/>
              <a:t>prenormalized</a:t>
            </a:r>
            <a:r>
              <a:rPr lang="en-US" dirty="0"/>
              <a:t> data.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outdir</a:t>
            </a:r>
            <a:r>
              <a:rPr lang="en-US" dirty="0"/>
              <a:t>: path to output directory. Default is “results” folder in current directory.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project_title</a:t>
            </a:r>
            <a:r>
              <a:rPr lang="en-US" dirty="0"/>
              <a:t>: project title to be used in the summary pptx. Default is “Report”.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project_subtitle</a:t>
            </a:r>
            <a:r>
              <a:rPr lang="en-US" dirty="0"/>
              <a:t>: project subtitle to be used in the summary pptx. Default is “by”.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heatmap_color_scale</a:t>
            </a:r>
            <a:r>
              <a:rPr lang="en-US" b="1" dirty="0"/>
              <a:t>: </a:t>
            </a:r>
            <a:r>
              <a:rPr lang="en-US" dirty="0"/>
              <a:t>specify 3 colors to use for heatmap color scale. Default is c("blue", "black", "yellow").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samplesAreRows</a:t>
            </a:r>
            <a:r>
              <a:rPr lang="en-US" b="1" dirty="0"/>
              <a:t>: </a:t>
            </a:r>
            <a:r>
              <a:rPr lang="en-US" dirty="0"/>
              <a:t>TRUE or FALSE. Is the input data in the form of rows of samples? Default is TRUE.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sampleIDRow</a:t>
            </a:r>
            <a:r>
              <a:rPr lang="en-US" b="1" dirty="0"/>
              <a:t>: </a:t>
            </a:r>
            <a:r>
              <a:rPr lang="en-US" dirty="0"/>
              <a:t>1 or 2.</a:t>
            </a:r>
            <a:r>
              <a:rPr lang="en-US" b="1" dirty="0"/>
              <a:t> </a:t>
            </a:r>
            <a:r>
              <a:rPr lang="en-US" dirty="0"/>
              <a:t>Only for RPPA analysis. Which row of the normalized RPPA data are the Sample IDs present in? Default is 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min_signal</a:t>
            </a:r>
            <a:r>
              <a:rPr lang="en-US" b="1" dirty="0"/>
              <a:t>: </a:t>
            </a:r>
            <a:r>
              <a:rPr lang="en-US" dirty="0"/>
              <a:t>for each comparison, filtering out features for which none of the samples have signal &gt; </a:t>
            </a:r>
            <a:r>
              <a:rPr lang="en-US" dirty="0" err="1"/>
              <a:t>min_signal</a:t>
            </a:r>
            <a:r>
              <a:rPr lang="en-US" dirty="0"/>
              <a:t>. Setting to NULL turns this filter off. Default is NULL.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scriptPath</a:t>
            </a:r>
            <a:r>
              <a:rPr lang="en-US" dirty="0"/>
              <a:t>: path to R folder within the </a:t>
            </a:r>
            <a:r>
              <a:rPr lang="en-US" dirty="0" err="1"/>
              <a:t>runMODAC</a:t>
            </a:r>
            <a:r>
              <a:rPr lang="en-US" dirty="0"/>
              <a:t> folder on your system.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98344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5883A-5E59-3E22-F4B3-09651AA388E1}"/>
              </a:ext>
            </a:extLst>
          </p:cNvPr>
          <p:cNvSpPr txBox="1"/>
          <p:nvPr/>
        </p:nvSpPr>
        <p:spPr>
          <a:xfrm>
            <a:off x="3668486" y="1720840"/>
            <a:ext cx="85235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heatmaps</a:t>
            </a:r>
            <a:r>
              <a:rPr lang="en-US" dirty="0"/>
              <a:t>: folder containing heatmaps in .jpg and .pdf format with supporting data used to generate the heatmap available in a .csv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pca</a:t>
            </a:r>
            <a:r>
              <a:rPr lang="en-US" dirty="0"/>
              <a:t>: folder containing </a:t>
            </a:r>
            <a:r>
              <a:rPr lang="en-US" dirty="0" err="1"/>
              <a:t>pca</a:t>
            </a:r>
            <a:r>
              <a:rPr lang="en-US" dirty="0"/>
              <a:t> plots in .jpg and .pdf format with supporting data used to generate the </a:t>
            </a:r>
            <a:r>
              <a:rPr lang="en-US" dirty="0" err="1"/>
              <a:t>pca</a:t>
            </a:r>
            <a:r>
              <a:rPr lang="en-US" dirty="0"/>
              <a:t> plots available in a .xlsx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QA_plots</a:t>
            </a:r>
            <a:r>
              <a:rPr lang="en-US" dirty="0"/>
              <a:t>: folder containing boxplots of the combined normalized data and normalized data per method as well as internal standard distribution and QC samples distribution plot per method.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report</a:t>
            </a:r>
            <a:r>
              <a:rPr lang="en-US" dirty="0"/>
              <a:t>: folder containing raw combined data, normalized data, and for each comparison, boxplots of all features and statistical test report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report.pptx</a:t>
            </a:r>
            <a:r>
              <a:rPr lang="en-US" dirty="0"/>
              <a:t>: presentation containing a summary of the results.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Rnk</a:t>
            </a:r>
            <a:r>
              <a:rPr lang="en-US" dirty="0"/>
              <a:t>: folder containing the rank files for each comparison.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sessionInfo.txt</a:t>
            </a:r>
            <a:r>
              <a:rPr lang="en-US" b="1" dirty="0"/>
              <a:t>: </a:t>
            </a:r>
            <a:r>
              <a:rPr lang="en-US" dirty="0"/>
              <a:t>text file containing your R session information.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Signature</a:t>
            </a:r>
            <a:r>
              <a:rPr lang="en-US" dirty="0"/>
              <a:t>: folder containing the signature files for each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volcano_plots</a:t>
            </a:r>
            <a:r>
              <a:rPr lang="en-US" b="1" dirty="0"/>
              <a:t>: </a:t>
            </a:r>
            <a:r>
              <a:rPr lang="en-US" dirty="0"/>
              <a:t>folder containing volcano plots for each t-test comparison in .jpg and .pdf format.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4F1753-28AE-E233-48EC-02DA594EC3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416"/>
          <a:stretch/>
        </p:blipFill>
        <p:spPr>
          <a:xfrm>
            <a:off x="0" y="1616371"/>
            <a:ext cx="3665008" cy="445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74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EA82-6506-DFFE-6495-214648803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Transposed Data (Columns of Samples)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07DBF-B79C-7DA2-07B5-64166409B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854006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Input File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10777D-6F39-622B-2D04-39C9328E38AB}"/>
              </a:ext>
            </a:extLst>
          </p:cNvPr>
          <p:cNvSpPr txBox="1"/>
          <p:nvPr/>
        </p:nvSpPr>
        <p:spPr>
          <a:xfrm>
            <a:off x="7021286" y="2413334"/>
            <a:ext cx="51707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Rows of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column contains feature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Remaining columns are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NAs or blank cells</a:t>
            </a:r>
          </a:p>
        </p:txBody>
      </p:sp>
      <p:pic>
        <p:nvPicPr>
          <p:cNvPr id="7" name="Content Placeholder 8">
            <a:extLst>
              <a:ext uri="{FF2B5EF4-FFF2-40B4-BE49-F238E27FC236}">
                <a16:creationId xmlns:a16="http://schemas.microsoft.com/office/drawing/2014/main" id="{F4600DFE-11A7-C159-B326-4F60E035B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8829"/>
            <a:ext cx="6039854" cy="588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035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Comparisons File – Settings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1B2966-A8FF-7D67-943D-6F0860479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8829"/>
            <a:ext cx="5564911" cy="55009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689E04-D282-3827-501B-D45D995F777B}"/>
              </a:ext>
            </a:extLst>
          </p:cNvPr>
          <p:cNvSpPr txBox="1"/>
          <p:nvPr/>
        </p:nvSpPr>
        <p:spPr>
          <a:xfrm>
            <a:off x="5564911" y="1006839"/>
            <a:ext cx="662708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padj_method</a:t>
            </a:r>
            <a:r>
              <a:rPr lang="en-US" sz="1600" dirty="0"/>
              <a:t>: “</a:t>
            </a:r>
            <a:r>
              <a:rPr lang="en-US" sz="1600" dirty="0" err="1"/>
              <a:t>pval</a:t>
            </a:r>
            <a:r>
              <a:rPr lang="en-US" sz="1600" dirty="0"/>
              <a:t>” or “</a:t>
            </a:r>
            <a:r>
              <a:rPr lang="en-US" sz="1600" dirty="0" err="1"/>
              <a:t>fdr</a:t>
            </a:r>
            <a:r>
              <a:rPr lang="en-US" sz="1600" dirty="0"/>
              <a:t>”. Use p-value or FDR for generating filtered heatmaps and signature files?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padj_cutoff</a:t>
            </a:r>
            <a:r>
              <a:rPr lang="en-US" sz="1600" dirty="0"/>
              <a:t>: p-value or FDR threshold for generating filtered heatmaps and signature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compute_log2fc</a:t>
            </a:r>
            <a:r>
              <a:rPr lang="en-US" sz="1600" dirty="0"/>
              <a:t>: TRUE or FALSE. Calculate log2 and linear fold change or only linear fold change?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linear_fc_cutoff</a:t>
            </a:r>
            <a:r>
              <a:rPr lang="en-US" sz="1600" dirty="0"/>
              <a:t>: Fold change threshold for generating signature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QC_row</a:t>
            </a:r>
            <a:r>
              <a:rPr lang="en-US" sz="1600" dirty="0"/>
              <a:t>: row index for the first QC sample.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cv_cutoff_internal_standard</a:t>
            </a:r>
            <a:r>
              <a:rPr lang="en-US" sz="1600" dirty="0"/>
              <a:t>: Coefficient of variation (CV) threshold for internal standard (ISTD). Only ISTDs with CV lower than this threshold will be considered for normalization.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normalization</a:t>
            </a:r>
            <a:r>
              <a:rPr lang="en-US" sz="1600" dirty="0"/>
              <a:t>: “</a:t>
            </a:r>
            <a:r>
              <a:rPr lang="en-US" sz="1600" dirty="0" err="1"/>
              <a:t>istd</a:t>
            </a:r>
            <a:r>
              <a:rPr lang="en-US" sz="1600" dirty="0"/>
              <a:t>”, “</a:t>
            </a:r>
            <a:r>
              <a:rPr lang="en-US" sz="1600" dirty="0" err="1"/>
              <a:t>iqr</a:t>
            </a:r>
            <a:r>
              <a:rPr lang="en-US" sz="1600" dirty="0"/>
              <a:t>”, or “none”. Type of normalization to be performed – internal standard, interquartile range, or none?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input_data_space</a:t>
            </a:r>
            <a:r>
              <a:rPr lang="en-US" sz="1600" dirty="0"/>
              <a:t>: “linear” or “log2”. Input data is in linear space or log2 space?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differential_analysis_space</a:t>
            </a:r>
            <a:r>
              <a:rPr lang="en-US" sz="1600" dirty="0"/>
              <a:t>: “linear” or “log2”. For differential analysis, transform the data to linear or log2 space?</a:t>
            </a: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tab</a:t>
            </a:r>
            <a:r>
              <a:rPr lang="en-US" sz="1600" dirty="0"/>
              <a:t>: For ISTD normalization, write down names of all the methods below this. For any other normalization, leave blank.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ISTD_column</a:t>
            </a:r>
            <a:r>
              <a:rPr lang="en-US" sz="1600" dirty="0"/>
              <a:t>: For ISTD normalization, write down index of the first (or only) internal standard methods below this for all the methods. For any other normalization, leave blank.</a:t>
            </a:r>
          </a:p>
        </p:txBody>
      </p:sp>
    </p:spTree>
    <p:extLst>
      <p:ext uri="{BB962C8B-B14F-4D97-AF65-F5344CB8AC3E}">
        <p14:creationId xmlns:p14="http://schemas.microsoft.com/office/powerpoint/2010/main" val="4080763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Comparisons File - Comparisons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80C858-F3A7-9AD6-85CD-FBFFDA310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253" y="974725"/>
            <a:ext cx="3000865" cy="58832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8B9C20-FB97-BA6A-E4A6-FD3F463E2F8C}"/>
              </a:ext>
            </a:extLst>
          </p:cNvPr>
          <p:cNvSpPr txBox="1"/>
          <p:nvPr/>
        </p:nvSpPr>
        <p:spPr>
          <a:xfrm>
            <a:off x="5889171" y="968829"/>
            <a:ext cx="57476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comparison_name</a:t>
            </a:r>
            <a:r>
              <a:rPr lang="en-US" dirty="0"/>
              <a:t>: Sets </a:t>
            </a:r>
            <a:r>
              <a:rPr lang="en-US"/>
              <a:t>comparison direction. </a:t>
            </a:r>
            <a:r>
              <a:rPr lang="en-US" dirty="0"/>
              <a:t>Format must be “</a:t>
            </a:r>
            <a:r>
              <a:rPr lang="en-US" dirty="0" err="1"/>
              <a:t>testgroup_over_controlgroup</a:t>
            </a:r>
            <a:r>
              <a:rPr lang="en-US" dirty="0"/>
              <a:t>” for t-test and “group1_group2_..._</a:t>
            </a:r>
            <a:r>
              <a:rPr lang="en-US" dirty="0" err="1"/>
              <a:t>groupn</a:t>
            </a:r>
            <a:r>
              <a:rPr lang="en-US" dirty="0"/>
              <a:t>” for ANOVA.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test</a:t>
            </a:r>
            <a:r>
              <a:rPr lang="en-US" dirty="0"/>
              <a:t>: ”t-test” or “</a:t>
            </a:r>
            <a:r>
              <a:rPr lang="en-US" dirty="0" err="1"/>
              <a:t>anova</a:t>
            </a:r>
            <a:r>
              <a:rPr lang="en-US" dirty="0"/>
              <a:t>”. Which statistical test to perform?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group_order_ctrl_test</a:t>
            </a:r>
            <a:r>
              <a:rPr lang="en-US" dirty="0"/>
              <a:t>: order in which to display the comparison groups in boxplots and heatmaps.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group</a:t>
            </a:r>
            <a:r>
              <a:rPr lang="en-US" dirty="0"/>
              <a:t>: group that each sample belongs to. This can have all the groups or only groups specific to this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sample</a:t>
            </a:r>
            <a:r>
              <a:rPr lang="en-US" dirty="0"/>
              <a:t>: sample ID for all the samples or only samples belonging to the groups specific to this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Repeat this process creating a new sheet for all comparisons.</a:t>
            </a:r>
          </a:p>
        </p:txBody>
      </p:sp>
    </p:spTree>
    <p:extLst>
      <p:ext uri="{BB962C8B-B14F-4D97-AF65-F5344CB8AC3E}">
        <p14:creationId xmlns:p14="http://schemas.microsoft.com/office/powerpoint/2010/main" val="2687924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88E7ED-94CF-4842-85C0-A28FF97F6638}"/>
              </a:ext>
            </a:extLst>
          </p:cNvPr>
          <p:cNvSpPr txBox="1"/>
          <p:nvPr/>
        </p:nvSpPr>
        <p:spPr>
          <a:xfrm>
            <a:off x="5660020" y="968829"/>
            <a:ext cx="653198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inputFile</a:t>
            </a:r>
            <a:r>
              <a:rPr lang="en-US" dirty="0"/>
              <a:t>: path to the input file.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comparisonsFile</a:t>
            </a:r>
            <a:r>
              <a:rPr lang="en-US" dirty="0"/>
              <a:t>: path to the comparisons file.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type</a:t>
            </a:r>
            <a:r>
              <a:rPr lang="en-US" dirty="0"/>
              <a:t>: “metabolomics”, “</a:t>
            </a:r>
            <a:r>
              <a:rPr lang="en-US" dirty="0" err="1"/>
              <a:t>rppa</a:t>
            </a:r>
            <a:r>
              <a:rPr lang="en-US" dirty="0"/>
              <a:t>”, or “none”. Use “none” for </a:t>
            </a:r>
            <a:r>
              <a:rPr lang="en-US" dirty="0" err="1"/>
              <a:t>prenormalized</a:t>
            </a:r>
            <a:r>
              <a:rPr lang="en-US" dirty="0"/>
              <a:t> data.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outdir</a:t>
            </a:r>
            <a:r>
              <a:rPr lang="en-US" dirty="0"/>
              <a:t>: path to output directory. Default is “results” folder in current directory.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project_title</a:t>
            </a:r>
            <a:r>
              <a:rPr lang="en-US" dirty="0"/>
              <a:t>: project title to be used in the summary pptx. Default is “Report”.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project_subtitle</a:t>
            </a:r>
            <a:r>
              <a:rPr lang="en-US" dirty="0"/>
              <a:t>: project subtitle to be used in the summary pptx. Default is “by”.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heatmap_color_scale</a:t>
            </a:r>
            <a:r>
              <a:rPr lang="en-US" b="1" dirty="0"/>
              <a:t>: </a:t>
            </a:r>
            <a:r>
              <a:rPr lang="en-US" dirty="0"/>
              <a:t>specify 3 colors to use for heatmap color scale. Default is c("blue", "black", "yellow").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samplesAreRows</a:t>
            </a:r>
            <a:r>
              <a:rPr lang="en-US" b="1" dirty="0"/>
              <a:t>: </a:t>
            </a:r>
            <a:r>
              <a:rPr lang="en-US" dirty="0"/>
              <a:t>TRUE or FALSE. Is the input data in the form of rows of samples? Default is TRUE.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sampleIDRow</a:t>
            </a:r>
            <a:r>
              <a:rPr lang="en-US" b="1" dirty="0"/>
              <a:t>: </a:t>
            </a:r>
            <a:r>
              <a:rPr lang="en-US" dirty="0"/>
              <a:t>1 or 2.</a:t>
            </a:r>
            <a:r>
              <a:rPr lang="en-US" b="1" dirty="0"/>
              <a:t> </a:t>
            </a:r>
            <a:r>
              <a:rPr lang="en-US" dirty="0"/>
              <a:t>Only for RPPA analysis. Which row of the normalized RPPA data are the Sample IDs present in? Default is 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min_signal</a:t>
            </a:r>
            <a:r>
              <a:rPr lang="en-US" b="1" dirty="0"/>
              <a:t>: </a:t>
            </a:r>
            <a:r>
              <a:rPr lang="en-US" dirty="0"/>
              <a:t>for each comparison, filtering out features for which none of the samples have signal &gt; </a:t>
            </a:r>
            <a:r>
              <a:rPr lang="en-US" dirty="0" err="1"/>
              <a:t>min_signal</a:t>
            </a:r>
            <a:r>
              <a:rPr lang="en-US" dirty="0"/>
              <a:t>. Setting to NULL turns this filter off. Default is NULL.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scriptPath</a:t>
            </a:r>
            <a:r>
              <a:rPr lang="en-US" dirty="0"/>
              <a:t>: path to R folder within the </a:t>
            </a:r>
            <a:r>
              <a:rPr lang="en-US" dirty="0" err="1"/>
              <a:t>runMODAC</a:t>
            </a:r>
            <a:r>
              <a:rPr lang="en-US" dirty="0"/>
              <a:t> folder on your system.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0D0802-548A-1847-122B-766B0AAE4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6627"/>
            <a:ext cx="5660020" cy="216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841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5883A-5E59-3E22-F4B3-09651AA388E1}"/>
              </a:ext>
            </a:extLst>
          </p:cNvPr>
          <p:cNvSpPr txBox="1"/>
          <p:nvPr/>
        </p:nvSpPr>
        <p:spPr>
          <a:xfrm>
            <a:off x="3668486" y="1720840"/>
            <a:ext cx="85235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heatmaps</a:t>
            </a:r>
            <a:r>
              <a:rPr lang="en-US" dirty="0"/>
              <a:t>: folder containing heatmaps in .jpg and .pdf format with supporting data used to generate the heatmap available in a .csv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pca</a:t>
            </a:r>
            <a:r>
              <a:rPr lang="en-US" dirty="0"/>
              <a:t>: folder containing </a:t>
            </a:r>
            <a:r>
              <a:rPr lang="en-US" dirty="0" err="1"/>
              <a:t>pca</a:t>
            </a:r>
            <a:r>
              <a:rPr lang="en-US" dirty="0"/>
              <a:t> plots in .jpg and .pdf format with supporting data used to generate the </a:t>
            </a:r>
            <a:r>
              <a:rPr lang="en-US" dirty="0" err="1"/>
              <a:t>pca</a:t>
            </a:r>
            <a:r>
              <a:rPr lang="en-US" dirty="0"/>
              <a:t> plots available in a .xlsx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QA_plots</a:t>
            </a:r>
            <a:r>
              <a:rPr lang="en-US" dirty="0"/>
              <a:t>: folder containing boxplots of the combined normalized data and normalized data per method as well as internal standard distribution and QC samples distribution plot per method.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report</a:t>
            </a:r>
            <a:r>
              <a:rPr lang="en-US" dirty="0"/>
              <a:t>: folder containing raw combined data, normalized data, and for each comparison, boxplots of all features and statistical test report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report.pptx</a:t>
            </a:r>
            <a:r>
              <a:rPr lang="en-US" dirty="0"/>
              <a:t>: presentation containing a summary of the results.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Rnk</a:t>
            </a:r>
            <a:r>
              <a:rPr lang="en-US" dirty="0"/>
              <a:t>: folder containing the rank files for each comparison.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sessionInfo.txt</a:t>
            </a:r>
            <a:r>
              <a:rPr lang="en-US" b="1" dirty="0"/>
              <a:t>: </a:t>
            </a:r>
            <a:r>
              <a:rPr lang="en-US" dirty="0"/>
              <a:t>text file containing your R session information.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Signature</a:t>
            </a:r>
            <a:r>
              <a:rPr lang="en-US" dirty="0"/>
              <a:t>: folder containing the signature files for each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volcano_plots</a:t>
            </a:r>
            <a:r>
              <a:rPr lang="en-US" b="1" dirty="0"/>
              <a:t>: </a:t>
            </a:r>
            <a:r>
              <a:rPr lang="en-US" dirty="0"/>
              <a:t>folder containing volcano plots for each t-test comparison in .jpg and .pdf format.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314DDE-9CEE-6127-BA9D-BF8C5A1054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416"/>
          <a:stretch/>
        </p:blipFill>
        <p:spPr>
          <a:xfrm>
            <a:off x="0" y="1616371"/>
            <a:ext cx="3665008" cy="445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605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5931-2EE9-5ED4-D771-2F12E9B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962933"/>
          </a:xfrm>
        </p:spPr>
        <p:txBody>
          <a:bodyPr/>
          <a:lstStyle/>
          <a:p>
            <a:pPr algn="ctr"/>
            <a:r>
              <a:rPr lang="en-US" dirty="0"/>
              <a:t>Example 4 – RPPA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186ADD-94F2-CBB0-CA50-AC111BECD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2933"/>
            <a:ext cx="6187031" cy="31831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34A69C-0306-A8CA-C42A-D3E2E8CB3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583" y="2516946"/>
            <a:ext cx="2148467" cy="24660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AEA07B-3AC4-2D5E-4601-A6F9D7326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050" y="962933"/>
            <a:ext cx="3810466" cy="270719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99DD88-871A-9F40-E3EC-3300C2BF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45066"/>
            <a:ext cx="6780954" cy="171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2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5325</TotalTime>
  <Words>2613</Words>
  <Application>Microsoft Macintosh PowerPoint</Application>
  <PresentationFormat>Widescreen</PresentationFormat>
  <Paragraphs>168</Paragraphs>
  <Slides>22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Intro to runMODAC</vt:lpstr>
      <vt:lpstr>PowerPoint Presentation</vt:lpstr>
      <vt:lpstr>PowerPoint Presentation</vt:lpstr>
      <vt:lpstr>Metabolomics</vt:lpstr>
      <vt:lpstr>Input File</vt:lpstr>
      <vt:lpstr>Comparisons File – Settings</vt:lpstr>
      <vt:lpstr>Comparisons File - Comparisons</vt:lpstr>
      <vt:lpstr>Code</vt:lpstr>
      <vt:lpstr>Results</vt:lpstr>
      <vt:lpstr>Pre-Normalized Data</vt:lpstr>
      <vt:lpstr>Input File</vt:lpstr>
      <vt:lpstr>Comparisons File – Settings</vt:lpstr>
      <vt:lpstr>Comparisons File - Comparisons</vt:lpstr>
      <vt:lpstr>Code</vt:lpstr>
      <vt:lpstr>Results</vt:lpstr>
      <vt:lpstr>Transposed Data (Columns of Samples)</vt:lpstr>
      <vt:lpstr>Input File</vt:lpstr>
      <vt:lpstr>Comparisons File – Settings</vt:lpstr>
      <vt:lpstr>Comparisons File - Comparisons</vt:lpstr>
      <vt:lpstr>Code</vt:lpstr>
      <vt:lpstr>Results</vt:lpstr>
      <vt:lpstr>Example 4 – RPPA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runMODAC</dc:title>
  <dc:creator>Gandhi, Tanmay</dc:creator>
  <cp:lastModifiedBy>Gandhi, Tanmay</cp:lastModifiedBy>
  <cp:revision>19</cp:revision>
  <dcterms:created xsi:type="dcterms:W3CDTF">2023-03-06T14:46:42Z</dcterms:created>
  <dcterms:modified xsi:type="dcterms:W3CDTF">2026-09-24T16:32:38Z</dcterms:modified>
</cp:coreProperties>
</file>